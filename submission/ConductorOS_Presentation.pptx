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Title and Product Vision</a:t>
            </a:r>
          </a:p>
          <a:p/>
          <a:p>
            <a:r>
              <a:t>Speaker Notes:</a:t>
            </a:r>
          </a:p>
          <a:p>
            <a:r>
              <a:t>"This is ConductorOS — not just an app, but an operating system designed for one of the most physically demanding jobs in urban India: the bus conductor. I'm going to walk you through my research, design decisions, and a live prototype you can interact with right now."</a:t>
            </a:r>
          </a:p>
          <a:p/>
          <a:p>
            <a:r>
              <a:t>Opening Narrative &amp; Vision:</a:t>
            </a:r>
          </a:p>
          <a:p>
            <a:r>
              <a:t>ConductorOS is designed around the physical demands of an urban bus conductor's job, not just conventional mobile-app interactions. Most digital ticketing concepts fail because they treat the conductor like an office worker sitting at a desk with two free hands and high-speed Wi-Fi. In reality, an Indian bus conductor works in high-ambient heat, constant diesel vibration, crowded aisles, and sudden braking, with one hand permanently occupied holding physical cash and coins.</a:t>
            </a:r>
          </a:p>
          <a:p/>
          <a:p>
            <a:r>
              <a:t>Project Context &amp; Brief:</a:t>
            </a:r>
          </a:p>
          <a:p>
            <a:r>
              <a:t>• Candidate: Ujjal Sarkar</a:t>
            </a:r>
          </a:p>
          <a:p>
            <a:r>
              <a:t>• Date: October 2026</a:t>
            </a:r>
          </a:p>
          <a:p>
            <a:r>
              <a:t>• Assignment: Nielsen Product Design Internship — Brief 1 (Digitizing the State Bus ETM)</a:t>
            </a:r>
          </a:p>
          <a:p>
            <a:r>
              <a:t>• Target Persona: BMTC (Bangalore) and BEST (Mumbai) bus conductors</a:t>
            </a:r>
          </a:p>
          <a:p>
            <a:r>
              <a:t>• Core Evaluation Criteria: Sub-4-second flow time, one-handed reachability, glanceable outdoor visibility, and rock-solid error recovery.</a:t>
            </a:r>
          </a:p>
          <a:p/>
          <a:p>
            <a:r>
              <a:t>Three Core Constraints:</a:t>
            </a:r>
          </a:p>
          <a:p>
            <a:r>
              <a:t>1. One-Handed Ergonomics: All interactive elements live in the bottom 65% of the screen. Top 35% is reserved for read-only status.</a:t>
            </a:r>
          </a:p>
          <a:p>
            <a:r>
              <a:t>2. Sub-4-Second Speed: Issuing a 3-passenger ticket must take under 4.0 seconds. The measured prototype flow achieves 2.1 seconds (47% improvement).</a:t>
            </a:r>
          </a:p>
          <a:p>
            <a:r>
              <a:t>3. Glanceable Contrast: Legible in harsh Indian sunlight (&gt;10,000 lux) via dedicated Sunlight Mode.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The Problem and the Conductor's Reality</a:t>
            </a:r>
          </a:p>
          <a:p/>
          <a:p>
            <a:r>
              <a:t>Speaker Notes:</a:t>
            </a:r>
          </a:p>
          <a:p>
            <a:r>
              <a:t>"The ETM machines in use today are industrial-era devices. They have 40+ tactile buttons, a tiny monochrome display, and no error recovery. A conductor who taps the wrong key has to void the ticket manually. I wanted to understand what it actually feels like to use one of these before designing anything."</a:t>
            </a:r>
          </a:p>
          <a:p/>
          <a:p>
            <a:r>
              <a:t>Problem Statement Details:</a:t>
            </a:r>
          </a:p>
          <a:p>
            <a:r>
              <a:t>• Existing Electronic Ticketing Machines (ETMs) have remained architecturally unchanged for over 20 years. They are heavy, bulky handheld terminals featuring 40+ physical keys, slow thermal printer heads prone to frequent jamming in humid weather, and low-resolution monochrome LCDs that wash out under bright daylight.</a:t>
            </a:r>
          </a:p>
          <a:p>
            <a:r>
              <a:t>• Workload Volume: An average state transport bus conductor (BMTC / BEST) issues between 400 and 600 tickets across an 8-hour shift. In peak commuter periods, every unnecessary second or redundant keypress delays passenger onboarding and cascades into transit timetable slippage.</a:t>
            </a:r>
          </a:p>
          <a:p>
            <a:r>
              <a:t>• The Core Design Challenge: Can an intuitive touch-first smartphone interface completely replace legacy hardware while executing full ticket transactions in under 4 seconds per commuter?</a:t>
            </a:r>
          </a:p>
          <a:p/>
          <a:p>
            <a:r>
              <a:t>Day-in-the-Life Storyboard Breakdown:</a:t>
            </a:r>
          </a:p>
          <a:p>
            <a:r>
              <a:t>1. 4:30 AM Depot Roll Call: Conductors report before dawn, receive their route assignment, collect an initial cash float, and check out an assigned ticketing machine.</a:t>
            </a:r>
          </a:p>
          <a:p>
            <a:r>
              <a:t>2. Morning Rush (6:00–10:00 AM): Standing for hours in packed vehicle aisles. The left hand continuously clutches coins, banknotes, and safety handrails while the right hand operates the terminal amidst constant stop-and-go acceleration.</a:t>
            </a:r>
          </a:p>
          <a:p>
            <a:r>
              <a:t>3. Passenger Surge (The 3-Second Window): At high-density transit hubs, 8–10 passengers board in rapid succession. The conductor has an operational window of only ~3 seconds per passenger to issue a ticket before the bus reaches the next stop.</a:t>
            </a:r>
          </a:p>
          <a:p>
            <a:r>
              <a:t>4. End-of-Shift Reconciliation: After an exhausting shift, conductors face mandatory cash audits. The machine's logged revenue must match collected cash down to the single rupee; discrepancies result in punitive wage deductions.</a:t>
            </a:r>
          </a:p>
          <a:p/>
          <a:p>
            <a:r>
              <a:t>Critical Research Implication:</a:t>
            </a:r>
          </a:p>
          <a:p>
            <a:r>
              <a:t>Conductors rely heavily on muscle memory. During rush hour, they look at passenger faces and cash, not at machine screens. Any successful touch interface must establish consistent spatial anchors rather than dynamic, floating UI elements.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User Research and Five Key Insights</a:t>
            </a:r>
          </a:p>
          <a:p/>
          <a:p>
            <a:r>
              <a:t>Speaker Notes:</a:t>
            </a:r>
          </a:p>
          <a:p>
            <a:r>
              <a:t>"These five insights directly drove every single design decision I made. I'll show you exactly how each maps to a feature in the prototype."</a:t>
            </a:r>
          </a:p>
          <a:p/>
          <a:p>
            <a:r>
              <a:t>Detailed Breakdown of the 5 Critical Insights:</a:t>
            </a:r>
          </a:p>
          <a:p/>
          <a:p>
            <a:r>
              <a:t>1. Destination Frequency (The 80/20 Rule):</a:t>
            </a:r>
          </a:p>
          <a:p>
            <a:r>
              <a:t>On BMTC Route 335E (and across urban transit corridors globally), passenger trips follow a power-law distribution. Between 70% and 80% of all commuters disembark at just 3 or 4 major interchange stations (e.g. Kempegowda Bus Station/Majestic, Koramangala Water Tank, Jayanagar 4th Block, K.R. Market).</a:t>
            </a:r>
          </a:p>
          <a:p>
            <a:r>
              <a:t>• Product Implication: Avoid alphabetical lists or complex search dialogs as the primary screen. Implement the Pareto Grid — dedicating the dominant visual hierarchy and largest touch targets (~80px tall) to these 4 critical stops.</a:t>
            </a:r>
          </a:p>
          <a:p/>
          <a:p>
            <a:r>
              <a:t>2. Payment Behavior (Cash Dominance):</a:t>
            </a:r>
          </a:p>
          <a:p>
            <a:r>
              <a:t>Despite rapid digital UPI growth in retail, urban bus transport remains overwhelmingly cash-based (85%+ of tickets). UPI transactions introduce payment QR display time and payment confirmation SMS latency (often 5–15 seconds), which is fatal in a 3-second dwell window.</a:t>
            </a:r>
          </a:p>
          <a:p>
            <a:r>
              <a:t>• Product Implication: Cash is pre-selected and pre-budgeted. The payment selector remains collapsed by default ('Cash | Change ▾'). Zero confirmation dialogs for cash issuance.</a:t>
            </a:r>
          </a:p>
          <a:p/>
          <a:p>
            <a:r>
              <a:t>3. Speed Requirement (The Sub-4-Second SLA):</a:t>
            </a:r>
          </a:p>
          <a:p>
            <a:r>
              <a:t>The assignment brief establishes an unambiguous benchmark: issue a ticket for 3 passengers to a top destination in under 4.0 seconds.</a:t>
            </a:r>
          </a:p>
          <a:p>
            <a:r>
              <a:t>• Product Implication: 3-tap linear flow (Destination ➔ Pax Count ➔ Issue). The live interactive prototype achieves an average completion time of 2.1 seconds — a 47% measured improvement over the target SLA.</a:t>
            </a:r>
          </a:p>
          <a:p/>
          <a:p>
            <a:r>
              <a:t>4. Physical Ergonomics (One-Handed Grip):</a:t>
            </a:r>
          </a:p>
          <a:p>
            <a:r>
              <a:t>Conductors never operate devices with two hands. The non-dominant hand holds physical currency notes wedged between fingers and loose change coins.</a:t>
            </a:r>
          </a:p>
          <a:p>
            <a:r>
              <a:t>• Product Implication: Strict adherence to bottom 65% thumb reachability. The top 35% of screen height is exclusively informational (read-only route badge, GPS stage, battery).</a:t>
            </a:r>
          </a:p>
          <a:p/>
          <a:p>
            <a:r>
              <a:t>5. Error Recovery (High-Stress Surge Mistakes):</a:t>
            </a:r>
          </a:p>
          <a:p>
            <a:r>
              <a:t>Field research demonstrates that wrong taps occur almost exclusively within the first 2 seconds of boarding, caused by passenger mind changes or sudden bus lurches.</a:t>
            </a:r>
          </a:p>
          <a:p>
            <a:r>
              <a:t>• Product Implication: Two-tiered recovery — an immediate 'Change stop' back button on the configuration view, followed by a prominent 5-second pulsing Undo window after ticket issuance.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Six Design Principles and Navigation Strategy</a:t>
            </a:r>
          </a:p>
          <a:p/>
          <a:p>
            <a:r>
              <a:t>Speaker Notes:</a:t>
            </a:r>
          </a:p>
          <a:p>
            <a:r>
              <a:t>"These principles are not decorative — they're load-bearing. Every layout decision was tested against these 6 rules. If a feature didn't pass at least 3 rules, it didn't ship."</a:t>
            </a:r>
          </a:p>
          <a:p/>
          <a:p>
            <a:r>
              <a:t>The Six Load-Bearing Principles:</a:t>
            </a:r>
          </a:p>
          <a:p>
            <a:r>
              <a:t>1. Thumb-First, Always: One-handed operation is a non-negotiable physical necessity. The human thumb grips the phone from the lower third, forming a radial arc across the lower 65% of the viewport. Zero interactive elements live in the top 35% "danger zone".</a:t>
            </a:r>
          </a:p>
          <a:p>
            <a:r>
              <a:t>2. Sub-Second Taps: For the overwhelming majority case (1 commuter, cash, top-4 stop), the transaction completes in 1 tap in Quick-Issue mode. Every tap saved across 500 passengers recovers valuable dwell minutes.</a:t>
            </a:r>
          </a:p>
          <a:p>
            <a:r>
              <a:t>3. Glance-and-Go: Destination names are rendered in bold 20px+ white text. Crucially, fare amounts are styled in neutral white (#F0F0F5) — explicitly NOT green. Green is strictly reserved for actionable system triggers and confirmation states. Treating fares as static data prevents visual competition with the primary CTA.</a:t>
            </a:r>
          </a:p>
          <a:p>
            <a:r>
              <a:t>4. Forgiveness by Default: High speed inevitably increases error probability. A mandatory 5-second undo window transforms potential financial penalties into a single tap.</a:t>
            </a:r>
          </a:p>
          <a:p>
            <a:r>
              <a:t>5. Signal Over Noise: Eliminates confirmation popups. Cash is selected by default; alternate methods stay collapsed.</a:t>
            </a:r>
          </a:p>
          <a:p>
            <a:r>
              <a:t>6. Muscle Memory Friendly: The spatial coordinates of top destinations remain fixed, enabling conductors to issue tickets without looking down.</a:t>
            </a:r>
          </a:p>
          <a:p/>
          <a:p>
            <a:r>
              <a:t>Reachability Strategy &amp; Three Ergonomic Touch Rules:</a:t>
            </a:r>
          </a:p>
          <a:p>
            <a:r>
              <a:t>• 64px Primary CTA: The "Issue Ticket" button spans the entire width and measures 64px high, providing a massive physical target.</a:t>
            </a:r>
          </a:p>
          <a:p>
            <a:r>
              <a:t>• 56px Minimum Touch Area: Applied to all passenger count selectors, back buttons, and destination cards.</a:t>
            </a:r>
          </a:p>
          <a:p>
            <a:r>
              <a:t>• 12px Tap Spacing: A physical buffer between adjacent interactive buttons, preventing vibration-induced mis-taps.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Information Architecture and Main Destination Grid</a:t>
            </a:r>
          </a:p>
          <a:p/>
          <a:p>
            <a:r>
              <a:t>Speaker Notes:</a:t>
            </a:r>
          </a:p>
          <a:p>
            <a:r>
              <a:t>"The information architecture was designed around progressive disclosure. The most critical information is always visible with zero taps. Payment options are collapsed by default because cash is 85% of transactions."</a:t>
            </a:r>
          </a:p>
          <a:p/>
          <a:p>
            <a:r>
              <a:t>Four-Tier Information Architecture Breakdown:</a:t>
            </a:r>
          </a:p>
          <a:p>
            <a:r>
              <a:t>• Tier 1 (Always Visible, 0 Taps): The operational command view. Displays route number (335E), bus direction (Kempegowda Bus Station), current GPS fare stage, the Pareto Grid, and the primary Issue Ticket CTA. Zero taps required to orient the conductor.</a:t>
            </a:r>
          </a:p>
          <a:p>
            <a:r>
              <a:t>• Tier 2 (One Tap Configuration): Activated when a destination is selected. Presents passenger volume selectors, payment method toggle, and prominent fare calculation.</a:t>
            </a:r>
          </a:p>
          <a:p>
            <a:r>
              <a:t>• Tier 3 (Contextual Feedback): Appears only post-action. Delivers haptic feedback, success confirmation, and the active 5-second Undo / Repeat controls.</a:t>
            </a:r>
          </a:p>
          <a:p>
            <a:r>
              <a:t>• Tier 4 (Hidden Administration): Shift reconciliation, collection auditing, route switching, and diagnostic settings are relegated to background menus, preventing accidental triggers during passenger transit.</a:t>
            </a:r>
          </a:p>
          <a:p/>
          <a:p>
            <a:r>
              <a:t>The Pareto Grid on Route 335E:</a:t>
            </a:r>
          </a:p>
          <a:p>
            <a:r>
              <a:t>Analysis of BMTC transit data demonstrates that on typical urban routes, passenger demand concentrates heavily on key arterial junctions. On Route 335E, Majestic, Koramangala, Jayanagar, and K.R. Market generate approximately 80% of all passenger revenue.</a:t>
            </a:r>
          </a:p>
          <a:p>
            <a:r>
              <a:t>• The design failure of conventional transit apps is treating all stops equally in flat alphabetical lists.</a:t>
            </a:r>
          </a:p>
          <a:p>
            <a:r>
              <a:t>• ConductorOS establishes an intentional hierarchy: 4 massive primary cards (~80px tall) arranged in a balanced 2-column grid, followed by 4 compact secondary cards, and a search drawer for rare fringe stops.</a:t>
            </a:r>
          </a:p>
          <a:p>
            <a:r>
              <a:t>• Spatial Consistency: The position of 'Majestic' never changes, enabling true spatial muscle memory within a single working shift.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Ticket Configuration and the Under-4-Second Flow</a:t>
            </a:r>
          </a:p>
          <a:p/>
          <a:p>
            <a:r>
              <a:t>Speaker Notes:</a:t>
            </a:r>
          </a:p>
          <a:p>
            <a:r>
              <a:t>"This is the money slide. The brief's primary constraint was 'under 4 seconds for 3 passengers.' Our prototype consistently completes this in 2.1 seconds. The built-in flow timer confirms this — I'll show you on slide 8."</a:t>
            </a:r>
          </a:p>
          <a:p/>
          <a:p>
            <a:r>
              <a:t>Detailed Ticketing Flow Breakdown (3 Taps, 2.1 Seconds):</a:t>
            </a:r>
          </a:p>
          <a:p>
            <a:r>
              <a:t>• Tap 1 (0.0s → 0.4s): Destination Selection. The conductor taps the high-frequency destination card (e.g. Majestic at ₹25). Because the card is permanently anchored in the lower thumb zone, cognitive search time is near-zero.</a:t>
            </a:r>
          </a:p>
          <a:p>
            <a:r>
              <a:t>• Tap 2 (0.4s → 1.0s): Passenger Volume. Tapping '3' in the generous 56px touch selector instantly recalculates the group fare total to ₹75 (3 × ₹25). No separate "Calculate" or "OK" buttons required.</a:t>
            </a:r>
          </a:p>
          <a:p>
            <a:r>
              <a:t>• Tap 3 (1.0s → 2.1s): Ticket Execution. Tapping the full-width 64px green CTA issues the digital ticket, updates the shift tally, and triggers haptic vibration.</a:t>
            </a:r>
          </a:p>
          <a:p>
            <a:r>
              <a:t>• Measured Benchmark: 2.1 seconds average flow time, representing a 47% speed improvement against the 4.0-second constraint.</a:t>
            </a:r>
          </a:p>
          <a:p/>
          <a:p>
            <a:r>
              <a:t>Six Critical Configuration Screen Decisions:</a:t>
            </a:r>
          </a:p>
          <a:p>
            <a:r>
              <a:t>1. 'Change Stop' Back Button: In moving buses, bumps cause accidental mis-taps. Trapping conductors in rigid wizards forces them to issue and cancel tickets. The back button provides instant recovery.</a:t>
            </a:r>
          </a:p>
          <a:p>
            <a:r>
              <a:t>2. 28px Bold Destination Display: Maximizes glanceability. The destination name is legible from arm's length.</a:t>
            </a:r>
          </a:p>
          <a:p>
            <a:r>
              <a:t>3. Fare Neutral White Styling: In early v1 iterations, fares were styled in green. Testing revealed this created visual confusion between actionable buttons and passive data. In v2, fares are neutral white.</a:t>
            </a:r>
          </a:p>
          <a:p>
            <a:r>
              <a:t>4. 56px Passenger Selectors: Conforms to international accessibility standards with 12px dead-space buffers.</a:t>
            </a:r>
          </a:p>
          <a:p>
            <a:r>
              <a:t>5. Collapsed Payment Selector: Because 85%+ of commuters pay cash, cash is pre-budgeted. Hiding secondary options saves ~500 unnecessary confirmation taps per shift.</a:t>
            </a:r>
          </a:p>
          <a:p>
            <a:r>
              <a:t>6. 36px Dominant Fare Total: The conductor must loudly announce the total fare to passengers amid bus engine noise. The 36px font allows instant verbalization without mental arithmetic.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Success, Undo, Repeat, Offline, and Sunlight Mode</a:t>
            </a:r>
          </a:p>
          <a:p/>
          <a:p>
            <a:r>
              <a:t>Speaker Notes:</a:t>
            </a:r>
          </a:p>
          <a:p>
            <a:r>
              <a:t>"Optimistic speed requires guaranteed forgiveness. When mistakes happen, they must cost exactly 1 tap and zero anxiety. We also solved the real-world physical environment with Sunlight Mode and offline continuity."</a:t>
            </a:r>
          </a:p>
          <a:p/>
          <a:p>
            <a:r>
              <a:t>Success State &amp; The 5-Second Undo Window:</a:t>
            </a:r>
          </a:p>
          <a:p>
            <a:r>
              <a:t>• Immediate Visual Confirmation: Displays green animated checkmark, 'Ticket Issued!' text, and clear calculation breakdown ('3 × Majestic — ₹75 Cash').</a:t>
            </a:r>
          </a:p>
          <a:p>
            <a:r>
              <a:t>• Action Zone Transformation: Rather than hiding recovery options in a buried menu, the primary 64px Issue button transforms into a pulsing red '↩ Undo Last Ticket' CTA for a full 5-second window.</a:t>
            </a:r>
          </a:p>
          <a:p>
            <a:r>
              <a:t>• Instant Reconciliation: Tapping Undo instantly rolls back the ticket count, decrements collected revenue, and issues an undo toast confirmation.</a:t>
            </a:r>
          </a:p>
          <a:p/>
          <a:p>
            <a:r>
              <a:t>Race Condition Resolution (Engineering Detail):</a:t>
            </a:r>
          </a:p>
          <a:p>
            <a:r>
              <a:t>A frequent UX defect in countdown timers is a race condition where the screen auto-resets right as the user taps, resulting in a mis-tap on whatever screen appeared underneath. ConductorOS binds touch start event listeners to immediately freeze and clear the auto-reset timer upon any user touch, ensuring the undo button remains stable.</a:t>
            </a:r>
          </a:p>
          <a:p/>
          <a:p>
            <a:r>
              <a:t>Sunlight Mode (Environmental Realism):</a:t>
            </a:r>
          </a:p>
          <a:p>
            <a:r>
              <a:t>In bright Indian daylight (&gt;10,000 lux), dark smartphone screens act as mirrors, reflecting sky glare and passenger clothing.</a:t>
            </a:r>
          </a:p>
          <a:p>
            <a:r>
              <a:t>• Sunlight Mode flips the interface to pure white background (#FFFFFF), high-contrast black typography, and deep blue buttons.</a:t>
            </a:r>
          </a:p>
          <a:p>
            <a:r>
              <a:t>• Current Prototype: Triggered via 1-tap toggle in demo bar.</a:t>
            </a:r>
          </a:p>
          <a:p>
            <a:r>
              <a:t>• Proposed Production Implementation: Automatic activation using the W3C Ambient Light Sensor API (navigator.deviceLight).</a:t>
            </a:r>
          </a:p>
          <a:p/>
          <a:p>
            <a:r>
              <a:t>Four Critical Edge Cases:</a:t>
            </a:r>
          </a:p>
          <a:p>
            <a:r>
              <a:t>1. Wrong Destination Selected: 'Change stop' back button on config screen returns immediately to grid without modal dialogs.</a:t>
            </a:r>
          </a:p>
          <a:p>
            <a:r>
              <a:t>2. Wrong Ticket Amount Issued: 5-second undo window provides 1-tap post-issuance reversal.</a:t>
            </a:r>
          </a:p>
          <a:p>
            <a:r>
              <a:t>3. Repeated Passenger Group: 'Repeat' button pre-populates previous configuration in 1 tap.</a:t>
            </a:r>
          </a:p>
          <a:p>
            <a:r>
              <a:t>4. Offline Bus Journey: Bus transit through tunnels or rural dead zones operates seamlessly offline; ticket counters persist locally and synchronize automatically upon network reconnection.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Interactive Prototype: Live Product Demonstration</a:t>
            </a:r>
          </a:p>
          <a:p/>
          <a:p>
            <a:r>
              <a:t>Speaker Notes:</a:t>
            </a:r>
          </a:p>
          <a:p>
            <a:r>
              <a:t>"This is the differentiator. Most candidates submit Figma screens or a recorded Loom. This is a real, functional, deployable web prototype that you can open on your own phone right now and run the full ticketing flow. The built-in stopwatch will show you the exact time."</a:t>
            </a:r>
          </a:p>
          <a:p/>
          <a:p>
            <a:r>
              <a:t>Live Demonstration Instructions:</a:t>
            </a:r>
          </a:p>
          <a:p>
            <a:r>
              <a:t>1. Real Mobile Experience: Scan the QR code using any smartphone camera. The interface renders cleanly in Safari, Chrome, and Edge, adapting automatically to touch viewports.</a:t>
            </a:r>
          </a:p>
          <a:p>
            <a:r>
              <a:t>2. The 3-Passenger Benchmark:</a:t>
            </a:r>
          </a:p>
          <a:p>
            <a:r>
              <a:t>   • Tap '⏱️ Toggle Flow Timer' in the demo bar to reveal the live stopwatch badge.</a:t>
            </a:r>
          </a:p>
          <a:p>
            <a:r>
              <a:t>   • Tap 'Majestic' (₹25) on the Pareto Grid.</a:t>
            </a:r>
          </a:p>
          <a:p>
            <a:r>
              <a:t>   • Tap '3' in the passenger selector.</a:t>
            </a:r>
          </a:p>
          <a:p>
            <a:r>
              <a:t>   • Tap 'Issue Ticket — ₹75'.</a:t>
            </a:r>
          </a:p>
          <a:p>
            <a:r>
              <a:t>   • The timer stops automatically, recording an average completion time of ~2.1 seconds (47% faster than the 4.0-second SLA).</a:t>
            </a:r>
          </a:p>
          <a:p>
            <a:r>
              <a:t>3. Experience Environmental Design: Tap '☀️ Sunlight Mode' in the demo bar to test the high-contrast white outdoor palette.</a:t>
            </a:r>
          </a:p>
          <a:p>
            <a:r>
              <a:t>4. Test Quick-Issue &amp; Recovery: Tap '⚡ 1-Tap Mode' to issue instant single-passenger tickets, followed by tapping the pulsing '↩ Undo Last Ticket' button to verify state rollback.</a:t>
            </a:r>
          </a:p>
          <a:p/>
          <a:p>
            <a:r>
              <a:t>Technical Architecture Highlights:</a:t>
            </a:r>
          </a:p>
          <a:p>
            <a:r>
              <a:t>• Zero Dependencies: Pure native HTML5, modern CSS3 variables, and vanilla JavaScript. No framework overhead or package bloat.</a:t>
            </a:r>
          </a:p>
          <a:p>
            <a:r>
              <a:t>• Responsive &amp; Touch Optimized: Complete with Web Vibration API haptics on supported devices.</a:t>
            </a:r>
          </a:p>
          <a:p>
            <a:r>
              <a:t>• Deployed &amp; Verified: Hosted live at https://ujjalsarkar7674-hub.github.io/nielsen-conductoros/prototype/.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Roadmap and Design Reflection</a:t>
            </a:r>
          </a:p>
          <a:p/>
          <a:p>
            <a:r>
              <a:t>Speaker Notes:</a:t>
            </a:r>
          </a:p>
          <a:p>
            <a:r>
              <a:t>"I want to be honest about what this is: a high-fidelity, user-obsessed first version based on desk research and design principles. The most important thing I'd do with more time is sit beside a real BMTC conductor for one shift and watch where they hesitate. That observation would drive v3."</a:t>
            </a:r>
          </a:p>
          <a:p/>
          <a:p>
            <a:r>
              <a:t>Product Roadmap Detailed Breakdown:</a:t>
            </a:r>
          </a:p>
          <a:p/>
          <a:p>
            <a:r>
              <a:t>1. Near Term (1–2 Sprints):</a:t>
            </a:r>
          </a:p>
          <a:p>
            <a:r>
              <a:t>• Regional Localization: BMTC and state transport conductors primarily communicate in Kannada and Hindi. An English-only interface introduces unnecessary cognitive translation load. Full localization of station names, passenger counts, and toast feedback is the highest priority.</a:t>
            </a:r>
          </a:p>
          <a:p>
            <a:r>
              <a:t>• WCAG AA Accessibility Audit: Complete formal compliance audit focusing on screen-reader aria labels, touch focus navigation, and color contrast validation across both dark and sunlight modes.</a:t>
            </a:r>
          </a:p>
          <a:p>
            <a:r>
              <a:t>• Ambient Light Sensor Automation: Integrate W3C Ambient Light Sensor API to trigger automatic theme switching when ambient light exceeds 10,000 lux.</a:t>
            </a:r>
          </a:p>
          <a:p/>
          <a:p>
            <a:r>
              <a:t>2. Medium Term (1 Quarter):</a:t>
            </a:r>
          </a:p>
          <a:p>
            <a:r>
              <a:t>• Shift Reconciliation Dashboard: Build out the Tier 4 administrative view. Conductors face intense end-of-shift stress balancing physical cash against machine logs. An automated reconciliation interface with discrepancy flagging directly solves this pain point.</a:t>
            </a:r>
          </a:p>
          <a:p>
            <a:r>
              <a:t>• Live Backend Transit Integration: Connect the prototype to real BMTC transit authority APIs to pull live route schedules, dynamic fare stage matrices, and fleet tracking.</a:t>
            </a:r>
          </a:p>
          <a:p>
            <a:r>
              <a:t>• In-Field Conductor Testing: Conduct formal contextual inquiries with 5 active BMTC conductors over full operational shifts using think-aloud protocols.</a:t>
            </a:r>
          </a:p>
          <a:p/>
          <a:p>
            <a:r>
              <a:t>3. Long Term (v3+ Machine Intelligence):</a:t>
            </a:r>
          </a:p>
          <a:p>
            <a:r>
              <a:t>• Adaptive Frequency Sorting: Replace static route defaults with local machine learning models that observe individual conductor issuing patterns and automatically surface their personal top destinations.</a:t>
            </a:r>
          </a:p>
          <a:p>
            <a:r>
              <a:t>• GPS-Driven Stop Synchronization: Utilize device GPS telemetry to automatically advance the bus's active stage as it crosses geofenced bus stops, completely eliminating manual stop selection errors.</a:t>
            </a:r>
          </a:p>
          <a:p/>
          <a:p>
            <a:r>
              <a:t>Design Reflection:</a:t>
            </a:r>
          </a:p>
          <a:p>
            <a:r>
              <a:t>Product design achieves true excellence when rooted in the physical reality of human work rather than digital vanity metrics.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Closing and Project Links</a:t>
            </a:r>
          </a:p>
          <a:p/>
          <a:p>
            <a:r>
              <a:t>Speaker Notes:</a:t>
            </a:r>
          </a:p>
          <a:p>
            <a:r>
              <a:t>"Thank you for reviewing this project. I believe product design is most powerful when it starts from an honest understanding of the user's physical reality — not just their digital preferences.</a:t>
            </a:r>
          </a:p>
          <a:p/>
          <a:p>
            <a:r>
              <a:t>ConductorOS was designed with exactly that philosophy: not from a Dribbble aesthetic, not from a generic ticketing-app template, but from the question: What does it feel like to issue 500 tickets in a sweltering, jolting bus with coins in one hand and a deadline in every second?</a:t>
            </a:r>
          </a:p>
          <a:p/>
          <a:p>
            <a:r>
              <a:t>I'm proud of the prototype's performance — 2.1 seconds, 47% faster than the target. But what I'm most proud of is the reasoning: every decision traces back to one of the five research insights or six design principles.</a:t>
            </a:r>
          </a:p>
          <a:p/>
          <a:p>
            <a:r>
              <a:t>I'd love to hear your thoughts, and I'm genuinely excited about the possibility of working with the Nielsen team."</a:t>
            </a:r>
          </a:p>
          <a:p/>
          <a:p>
            <a:r>
              <a:t>PROJECT LINKS:</a:t>
            </a:r>
          </a:p>
          <a:p>
            <a:r>
              <a:t>• Live Prototype:  https://ujjalsarkar7674-hub.github.io/nielsen-conductoros/prototype/</a:t>
            </a:r>
          </a:p>
          <a:p>
            <a:r>
              <a:t>• GitHub Repo:     https://github.com/ujjalsarkar7674-hub/nielsen-conductoros</a:t>
            </a:r>
          </a:p>
          <a:p>
            <a:r>
              <a:t>• GitHub Profile:  https://github.com/ujjalsarkar7674-hub</a:t>
            </a:r>
          </a:p>
          <a:p/>
          <a:p>
            <a:r>
              <a:t>KEY PROJECT METRICS SUMMARY (FOR Q&amp;A):</a:t>
            </a:r>
          </a:p>
          <a:p>
            <a:r>
              <a:t>• 3 taps to issue a ticket (normal mode)</a:t>
            </a:r>
          </a:p>
          <a:p>
            <a:r>
              <a:t>• 1 tap in Quick-Issue mode</a:t>
            </a:r>
          </a:p>
          <a:p>
            <a:r>
              <a:t>• 2.1 seconds average flow time</a:t>
            </a:r>
          </a:p>
          <a:p>
            <a:r>
              <a:t>• 47% faster than the 4.0-second target</a:t>
            </a:r>
          </a:p>
          <a:p>
            <a:r>
              <a:t>• 8 destinations on Pareto Grid (4 large + 4 compact)</a:t>
            </a:r>
          </a:p>
          <a:p>
            <a:r>
              <a:t>• 5 research-backed UX insights</a:t>
            </a:r>
          </a:p>
          <a:p>
            <a:r>
              <a:t>• 6 load-bearing design principles</a:t>
            </a:r>
          </a:p>
          <a:p>
            <a:r>
              <a:t>• 4 edge cases with 1-tap recovery</a:t>
            </a:r>
          </a:p>
          <a:p>
            <a:r>
              <a:t>• 2 display themes: Dark + Sunlight Mode</a:t>
            </a:r>
          </a:p>
          <a:p>
            <a:r>
              <a:t>• 2 special modes: 1-Tap Quick Issue + Auto-Demo</a:t>
            </a:r>
          </a:p>
          <a:p>
            <a:r>
              <a:t>• 0 npm dependencies — pure HTML5/CSS3/Vanilla JS</a:t>
            </a:r>
          </a:p>
          <a:p>
            <a:r>
              <a:t>• Works offline after initial page load</a:t>
            </a:r>
          </a:p>
          <a:p/>
          <a:p>
            <a:r>
              <a:t>═══════════════════════════════════════════════════════════</a:t>
            </a:r>
          </a:p>
          <a:p>
            <a:r>
              <a:t>FINAL CONTENT AUDIT CHECKLIST — ALL 16 ORIGINAL SLIDES ACCOUNTED FOR:</a:t>
            </a:r>
          </a:p>
          <a:p>
            <a:r>
              <a:t>═══════════════════════════════════════════════════════════</a:t>
            </a:r>
          </a:p>
          <a:p>
            <a:r>
              <a:t>Original Slide 1 (Title)                ➔ Slide 1 (Title &amp; Product Vision) ✅</a:t>
            </a:r>
          </a:p>
          <a:p>
            <a:r>
              <a:t>Original Slide 2 (The Problem)          ➔ Slide 2 (The Problem &amp; Conductor's Reality) ✅</a:t>
            </a:r>
          </a:p>
          <a:p>
            <a:r>
              <a:t>Original Slide 3 (Day in the Life)      ➔ Slide 2 (Consolidated Storyboard Timeline) ✅</a:t>
            </a:r>
          </a:p>
          <a:p>
            <a:r>
              <a:t>Original Slide 4 (5 Critical Insights)  ➔ Slide 3 (User Research &amp; 5 Key Insights) ✅</a:t>
            </a:r>
          </a:p>
          <a:p>
            <a:r>
              <a:t>Original Slide 5 (Design Principles)    ➔ Slide 4 (Six Design Principles &amp; Navigation) ✅</a:t>
            </a:r>
          </a:p>
          <a:p>
            <a:r>
              <a:t>Original Slide 6 (Reachability Strategy)➔ Slide 4 (Consolidated Reachability &amp; Touch Rules) ✅</a:t>
            </a:r>
          </a:p>
          <a:p>
            <a:r>
              <a:t>Original Slide 7 (Info Architecture)    ➔ Slide 5 (4-Tier IA &amp; Progressive Disclosure) ✅</a:t>
            </a:r>
          </a:p>
          <a:p>
            <a:r>
              <a:t>Original Slide 8 (Core Flow &lt;4s)        ➔ Slide 6 (Ticket Configuration &amp; Under-4s Flow) ✅</a:t>
            </a:r>
          </a:p>
          <a:p>
            <a:r>
              <a:t>Original Slide 9 (Destination Grid UI)  ➔ Slide 5 (Consolidated Pareto Grid UI &amp; Annotations) ✅</a:t>
            </a:r>
          </a:p>
          <a:p>
            <a:r>
              <a:t>Original Slide 10 (Ticket Config UI)    ➔ Slide 6 (Consolidated Ticket Config UI &amp; Annotations) ✅</a:t>
            </a:r>
          </a:p>
          <a:p>
            <a:r>
              <a:t>Original Slide 11 (Success + Undo UI)   ➔ Slide 7 (Success, Undo, &amp; Repeat States) ✅</a:t>
            </a:r>
          </a:p>
          <a:p>
            <a:r>
              <a:t>Original Slide 12 (Sunlight Mode)       ➔ Slide 7 (Consolidated Sunlight Mode Environment) ✅</a:t>
            </a:r>
          </a:p>
          <a:p>
            <a:r>
              <a:t>Original Slide 13 (Edge Cases)          ➔ Slide 7 (Consolidated 4 Edge Cases &amp; Failure Modes) ✅</a:t>
            </a:r>
          </a:p>
          <a:p>
            <a:r>
              <a:t>Original Slide 14 (Prototype Demo)      ➔ Slide 8 (Interactive Prototype &amp; QR Code) ✅</a:t>
            </a:r>
          </a:p>
          <a:p>
            <a:r>
              <a:t>Original Slide 15 (Roadmap &amp; Reflection)➔ Slide 9 (Roadmap &amp; Design Reflection) ✅</a:t>
            </a:r>
          </a:p>
          <a:p>
            <a:r>
              <a:t>Original Slide 16 (Thank You &amp; Links)   ➔ Slide 10 (Closing &amp; Project Links) ✅</a:t>
            </a:r>
          </a:p>
          <a:p/>
          <a:p>
            <a:r>
              <a:t>Audit Result: 100% Complete. Zero substantive content lost. All secondary tables, timing, and explanations preserved in presenter notes.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hyperlink" Target="https://ujjalsarkar7674-hub.github.io/nielsen-conductoros/prototype/"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ujjalsarkar7674-hub.github.io/nielsen-conductoros/prototype/" TargetMode="External"/><Relationship Id="rId3" Type="http://schemas.openxmlformats.org/officeDocument/2006/relationships/hyperlink" Target="https://github.com/ujjalsarkar7674-hub/nielsen-conductoros" TargetMode="External"/><Relationship Id="rId4" Type="http://schemas.openxmlformats.org/officeDocument/2006/relationships/hyperlink" Target="https://github.com/ujjalsarkar7674-hub" TargetMode="External"/><Relationship Id="rId5" Type="http://schemas.openxmlformats.org/officeDocument/2006/relationships/image" Target="../media/image1.png"/><Relationship Id="rId6"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10865815" y="6473952"/>
            <a:ext cx="731520" cy="274320"/>
          </a:xfrm>
          <a:prstGeom prst="rect">
            <a:avLst/>
          </a:prstGeom>
          <a:noFill/>
        </p:spPr>
        <p:txBody>
          <a:bodyPr wrap="square">
            <a:spAutoFit/>
          </a:bodyPr>
          <a:lstStyle/>
          <a:p>
            <a:pPr algn="r"/>
            <a:r>
              <a:rPr sz="800" b="0" i="0">
                <a:solidFill>
                  <a:srgbClr val="9E9EB0"/>
                </a:solidFill>
                <a:latin typeface="Arial"/>
              </a:rPr>
              <a:t>1 / 10</a:t>
            </a:r>
          </a:p>
        </p:txBody>
      </p:sp>
      <p:sp>
        <p:nvSpPr>
          <p:cNvPr id="3" name="TextBox 2"/>
          <p:cNvSpPr txBox="1"/>
          <p:nvPr/>
        </p:nvSpPr>
        <p:spPr>
          <a:xfrm>
            <a:off x="594360" y="1005840"/>
            <a:ext cx="6858000" cy="274320"/>
          </a:xfrm>
          <a:prstGeom prst="rect">
            <a:avLst/>
          </a:prstGeom>
          <a:noFill/>
        </p:spPr>
        <p:txBody>
          <a:bodyPr wrap="square">
            <a:spAutoFit/>
          </a:bodyPr>
          <a:lstStyle/>
          <a:p>
            <a:pPr algn="l"/>
            <a:r>
              <a:rPr sz="950" b="1" i="0">
                <a:solidFill>
                  <a:srgbClr val="448AFF"/>
                </a:solidFill>
                <a:latin typeface="Arial"/>
              </a:rPr>
              <a:t>NIELSEN PRODUCT DESIGN INTERNSHIP • BRIEF 1</a:t>
            </a:r>
          </a:p>
        </p:txBody>
      </p:sp>
      <p:sp>
        <p:nvSpPr>
          <p:cNvPr id="4" name="TextBox 3"/>
          <p:cNvSpPr txBox="1"/>
          <p:nvPr/>
        </p:nvSpPr>
        <p:spPr>
          <a:xfrm>
            <a:off x="594360" y="1280160"/>
            <a:ext cx="6949440" cy="2926080"/>
          </a:xfrm>
          <a:prstGeom prst="rect">
            <a:avLst/>
          </a:prstGeom>
          <a:noFill/>
        </p:spPr>
        <p:txBody>
          <a:bodyPr wrap="square">
            <a:spAutoFit/>
          </a:bodyPr>
          <a:lstStyle/>
          <a:p>
            <a:pPr algn="l"/>
            <a:r>
              <a:rPr sz="5600" b="1" i="0">
                <a:solidFill>
                  <a:srgbClr val="FFFFFF"/>
                </a:solidFill>
                <a:latin typeface="Arial"/>
              </a:rPr>
              <a:t>ConductorOS</a:t>
            </a:r>
          </a:p>
          <a:p>
            <a:pPr algn="l">
              <a:spcBef>
                <a:spcPts val="600"/>
              </a:spcBef>
            </a:pPr>
            <a:r>
              <a:rPr sz="2200" b="1" i="0">
                <a:solidFill>
                  <a:srgbClr val="448AFF"/>
                </a:solidFill>
                <a:latin typeface="Arial"/>
              </a:rPr>
              <a:t>Reimagining Bus Ticketing for India</a:t>
            </a:r>
          </a:p>
          <a:p>
            <a:pPr algn="l">
              <a:spcBef>
                <a:spcPts val="1400"/>
              </a:spcBef>
            </a:pPr>
            <a:r>
              <a:rPr sz="1200" b="0" i="1">
                <a:solidFill>
                  <a:srgbClr val="9E9EB0"/>
                </a:solidFill>
                <a:latin typeface="Arial"/>
              </a:rPr>
              <a:t>Designed around the physical demands of an urban bus conductor's job — not just conventional mobile-app interactions.</a:t>
            </a:r>
          </a:p>
          <a:p>
            <a:pPr algn="l">
              <a:spcBef>
                <a:spcPts val="2400"/>
              </a:spcBef>
            </a:pPr>
            <a:r>
              <a:rPr sz="1200" b="1" i="0">
                <a:solidFill>
                  <a:srgbClr val="F0F0F5"/>
                </a:solidFill>
                <a:latin typeface="Arial"/>
              </a:rPr>
              <a:t>Ujjal Sarkar • October 2026</a:t>
            </a:r>
          </a:p>
        </p:txBody>
      </p:sp>
      <p:sp>
        <p:nvSpPr>
          <p:cNvPr id="5" name="Rectangle 4"/>
          <p:cNvSpPr/>
          <p:nvPr/>
        </p:nvSpPr>
        <p:spPr>
          <a:xfrm>
            <a:off x="594360" y="2304288"/>
            <a:ext cx="3474720" cy="3810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4892040"/>
            <a:ext cx="2148840" cy="804672"/>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4892040"/>
            <a:ext cx="2148840" cy="2540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5001768"/>
            <a:ext cx="1920240" cy="274320"/>
          </a:xfrm>
          <a:prstGeom prst="rect">
            <a:avLst/>
          </a:prstGeom>
          <a:noFill/>
        </p:spPr>
        <p:txBody>
          <a:bodyPr wrap="square">
            <a:spAutoFit/>
          </a:bodyPr>
          <a:lstStyle/>
          <a:p>
            <a:pPr algn="l"/>
            <a:r>
              <a:rPr sz="1000" b="1" i="0">
                <a:solidFill>
                  <a:srgbClr val="FFFFFF"/>
                </a:solidFill>
                <a:latin typeface="Arial"/>
              </a:rPr>
              <a:t>⏱️  &lt; 4.0s Target</a:t>
            </a:r>
          </a:p>
        </p:txBody>
      </p:sp>
      <p:sp>
        <p:nvSpPr>
          <p:cNvPr id="9" name="TextBox 8"/>
          <p:cNvSpPr txBox="1"/>
          <p:nvPr/>
        </p:nvSpPr>
        <p:spPr>
          <a:xfrm>
            <a:off x="704088" y="5276088"/>
            <a:ext cx="1920240" cy="320040"/>
          </a:xfrm>
          <a:prstGeom prst="rect">
            <a:avLst/>
          </a:prstGeom>
          <a:noFill/>
        </p:spPr>
        <p:txBody>
          <a:bodyPr wrap="square">
            <a:spAutoFit/>
          </a:bodyPr>
          <a:lstStyle/>
          <a:p>
            <a:pPr algn="l"/>
            <a:r>
              <a:rPr sz="850" b="0" i="0">
                <a:solidFill>
                  <a:srgbClr val="9E9EB0"/>
                </a:solidFill>
                <a:latin typeface="Arial"/>
              </a:rPr>
              <a:t>3 taps per transaction</a:t>
            </a:r>
          </a:p>
        </p:txBody>
      </p:sp>
      <p:sp>
        <p:nvSpPr>
          <p:cNvPr id="10" name="Rectangle 9"/>
          <p:cNvSpPr/>
          <p:nvPr/>
        </p:nvSpPr>
        <p:spPr>
          <a:xfrm>
            <a:off x="2834640" y="4892040"/>
            <a:ext cx="2148840" cy="804672"/>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34640" y="4892040"/>
            <a:ext cx="2148840" cy="25400"/>
          </a:xfrm>
          <a:prstGeom prst="rect">
            <a:avLst/>
          </a:prstGeom>
          <a:solidFill>
            <a:srgbClr val="448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44368" y="5001768"/>
            <a:ext cx="1920240" cy="274320"/>
          </a:xfrm>
          <a:prstGeom prst="rect">
            <a:avLst/>
          </a:prstGeom>
          <a:noFill/>
        </p:spPr>
        <p:txBody>
          <a:bodyPr wrap="square">
            <a:spAutoFit/>
          </a:bodyPr>
          <a:lstStyle/>
          <a:p>
            <a:pPr algn="l"/>
            <a:r>
              <a:rPr sz="1000" b="1" i="0">
                <a:solidFill>
                  <a:srgbClr val="FFFFFF"/>
                </a:solidFill>
                <a:latin typeface="Arial"/>
              </a:rPr>
              <a:t>🤲  One-Handed Reach</a:t>
            </a:r>
          </a:p>
        </p:txBody>
      </p:sp>
      <p:sp>
        <p:nvSpPr>
          <p:cNvPr id="13" name="TextBox 12"/>
          <p:cNvSpPr txBox="1"/>
          <p:nvPr/>
        </p:nvSpPr>
        <p:spPr>
          <a:xfrm>
            <a:off x="2944368" y="5276088"/>
            <a:ext cx="1920240" cy="320040"/>
          </a:xfrm>
          <a:prstGeom prst="rect">
            <a:avLst/>
          </a:prstGeom>
          <a:noFill/>
        </p:spPr>
        <p:txBody>
          <a:bodyPr wrap="square">
            <a:spAutoFit/>
          </a:bodyPr>
          <a:lstStyle/>
          <a:p>
            <a:pPr algn="l"/>
            <a:r>
              <a:rPr sz="850" b="0" i="0">
                <a:solidFill>
                  <a:srgbClr val="9E9EB0"/>
                </a:solidFill>
                <a:latin typeface="Arial"/>
              </a:rPr>
              <a:t>Bottom 65% interaction zone</a:t>
            </a:r>
          </a:p>
        </p:txBody>
      </p:sp>
      <p:sp>
        <p:nvSpPr>
          <p:cNvPr id="14" name="Rectangle 13"/>
          <p:cNvSpPr/>
          <p:nvPr/>
        </p:nvSpPr>
        <p:spPr>
          <a:xfrm>
            <a:off x="5074920" y="4892040"/>
            <a:ext cx="2148840" cy="804672"/>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74920" y="4892040"/>
            <a:ext cx="2148840" cy="254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5001768"/>
            <a:ext cx="1920240" cy="274320"/>
          </a:xfrm>
          <a:prstGeom prst="rect">
            <a:avLst/>
          </a:prstGeom>
          <a:noFill/>
        </p:spPr>
        <p:txBody>
          <a:bodyPr wrap="square">
            <a:spAutoFit/>
          </a:bodyPr>
          <a:lstStyle/>
          <a:p>
            <a:pPr algn="l"/>
            <a:r>
              <a:rPr sz="1000" b="1" i="0">
                <a:solidFill>
                  <a:srgbClr val="FFFFFF"/>
                </a:solidFill>
                <a:latin typeface="Arial"/>
              </a:rPr>
              <a:t>☀️  Glanceable Display</a:t>
            </a:r>
          </a:p>
        </p:txBody>
      </p:sp>
      <p:sp>
        <p:nvSpPr>
          <p:cNvPr id="17" name="TextBox 16"/>
          <p:cNvSpPr txBox="1"/>
          <p:nvPr/>
        </p:nvSpPr>
        <p:spPr>
          <a:xfrm>
            <a:off x="5184648" y="5276088"/>
            <a:ext cx="1920240" cy="320040"/>
          </a:xfrm>
          <a:prstGeom prst="rect">
            <a:avLst/>
          </a:prstGeom>
          <a:noFill/>
        </p:spPr>
        <p:txBody>
          <a:bodyPr wrap="square">
            <a:spAutoFit/>
          </a:bodyPr>
          <a:lstStyle/>
          <a:p>
            <a:pPr algn="l"/>
            <a:r>
              <a:rPr sz="850" b="0" i="0">
                <a:solidFill>
                  <a:srgbClr val="9E9EB0"/>
                </a:solidFill>
                <a:latin typeface="Arial"/>
              </a:rPr>
              <a:t>Sunlight &amp; high-glare contrast</a:t>
            </a:r>
          </a:p>
        </p:txBody>
      </p:sp>
      <p:sp>
        <p:nvSpPr>
          <p:cNvPr id="18" name="Rectangle 17"/>
          <p:cNvSpPr/>
          <p:nvPr/>
        </p:nvSpPr>
        <p:spPr>
          <a:xfrm>
            <a:off x="7973568" y="704088"/>
            <a:ext cx="2596896" cy="5449824"/>
          </a:xfrm>
          <a:prstGeom prst="rect">
            <a:avLst/>
          </a:prstGeom>
          <a:solidFill>
            <a:srgbClr val="181832"/>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1_main_grid.png"/>
          <p:cNvPicPr>
            <a:picLocks noChangeAspect="1"/>
          </p:cNvPicPr>
          <p:nvPr/>
        </p:nvPicPr>
        <p:blipFill>
          <a:blip r:embed="rId2"/>
          <a:stretch>
            <a:fillRect/>
          </a:stretch>
        </p:blipFill>
        <p:spPr>
          <a:xfrm>
            <a:off x="8046720" y="777240"/>
            <a:ext cx="2450592" cy="5303520"/>
          </a:xfrm>
          <a:prstGeom prst="rect">
            <a:avLst/>
          </a:prstGeom>
        </p:spPr>
      </p:pic>
      <p:sp>
        <p:nvSpPr>
          <p:cNvPr id="20" name="TextBox 19"/>
          <p:cNvSpPr txBox="1"/>
          <p:nvPr/>
        </p:nvSpPr>
        <p:spPr>
          <a:xfrm>
            <a:off x="7589520" y="6217920"/>
            <a:ext cx="3364992" cy="274320"/>
          </a:xfrm>
          <a:prstGeom prst="rect">
            <a:avLst/>
          </a:prstGeom>
          <a:noFill/>
        </p:spPr>
        <p:txBody>
          <a:bodyPr wrap="square">
            <a:spAutoFit/>
          </a:bodyPr>
          <a:lstStyle/>
          <a:p>
            <a:pPr algn="ctr"/>
            <a:r>
              <a:rPr sz="800" b="0" i="1">
                <a:solidFill>
                  <a:srgbClr val="9E9EB0"/>
                </a:solidFill>
                <a:latin typeface="Arial"/>
              </a:rPr>
              <a:t>Actual ConductorOS Prototype UI • Live Mobile 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594360" y="365760"/>
            <a:ext cx="11002975" cy="502920"/>
          </a:xfrm>
          <a:prstGeom prst="rect">
            <a:avLst/>
          </a:prstGeom>
          <a:noFill/>
        </p:spPr>
        <p:txBody>
          <a:bodyPr wrap="square">
            <a:spAutoFit/>
          </a:bodyPr>
          <a:lstStyle/>
          <a:p>
            <a:pPr algn="l"/>
            <a:r>
              <a:rPr sz="2300" b="1" i="0">
                <a:solidFill>
                  <a:srgbClr val="FFFFFF"/>
                </a:solidFill>
                <a:latin typeface="Arial"/>
              </a:rPr>
              <a:t>Worn buttons. Unreadable screens. 8-hour shifts. One free hand.</a:t>
            </a:r>
          </a:p>
        </p:txBody>
      </p:sp>
      <p:sp>
        <p:nvSpPr>
          <p:cNvPr id="3" name="Rectangle 2"/>
          <p:cNvSpPr/>
          <p:nvPr/>
        </p:nvSpPr>
        <p:spPr>
          <a:xfrm>
            <a:off x="594360" y="896112"/>
            <a:ext cx="2011680" cy="3810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865815" y="6473952"/>
            <a:ext cx="731520" cy="274320"/>
          </a:xfrm>
          <a:prstGeom prst="rect">
            <a:avLst/>
          </a:prstGeom>
          <a:noFill/>
        </p:spPr>
        <p:txBody>
          <a:bodyPr wrap="square">
            <a:spAutoFit/>
          </a:bodyPr>
          <a:lstStyle/>
          <a:p>
            <a:pPr algn="r"/>
            <a:r>
              <a:rPr sz="800" b="0" i="0">
                <a:solidFill>
                  <a:srgbClr val="9E9EB0"/>
                </a:solidFill>
                <a:latin typeface="Arial"/>
              </a:rPr>
              <a:t>2 / 10</a:t>
            </a:r>
          </a:p>
        </p:txBody>
      </p:sp>
      <p:sp>
        <p:nvSpPr>
          <p:cNvPr id="5" name="Rectangle 4"/>
          <p:cNvSpPr/>
          <p:nvPr/>
        </p:nvSpPr>
        <p:spPr>
          <a:xfrm>
            <a:off x="594360" y="1115568"/>
            <a:ext cx="4937760" cy="896112"/>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04088" y="1225296"/>
            <a:ext cx="1280160" cy="676656"/>
          </a:xfrm>
          <a:prstGeom prst="rect">
            <a:avLst/>
          </a:prstGeom>
          <a:solidFill>
            <a:srgbClr val="181832"/>
          </a:solidFill>
          <a:ln w="9525">
            <a:solidFill>
              <a:srgbClr val="448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1335024"/>
            <a:ext cx="1280160" cy="457200"/>
          </a:xfrm>
          <a:prstGeom prst="rect">
            <a:avLst/>
          </a:prstGeom>
          <a:noFill/>
        </p:spPr>
        <p:txBody>
          <a:bodyPr wrap="square">
            <a:spAutoFit/>
          </a:bodyPr>
          <a:lstStyle/>
          <a:p>
            <a:pPr algn="ctr"/>
            <a:r>
              <a:rPr sz="1300" b="1" i="0">
                <a:solidFill>
                  <a:srgbClr val="448AFF"/>
                </a:solidFill>
                <a:latin typeface="Arial"/>
              </a:rPr>
              <a:t>40+ Keys</a:t>
            </a:r>
          </a:p>
        </p:txBody>
      </p:sp>
      <p:sp>
        <p:nvSpPr>
          <p:cNvPr id="8" name="TextBox 7"/>
          <p:cNvSpPr txBox="1"/>
          <p:nvPr/>
        </p:nvSpPr>
        <p:spPr>
          <a:xfrm>
            <a:off x="2103120" y="1225296"/>
            <a:ext cx="3291840" cy="676656"/>
          </a:xfrm>
          <a:prstGeom prst="rect">
            <a:avLst/>
          </a:prstGeom>
          <a:noFill/>
        </p:spPr>
        <p:txBody>
          <a:bodyPr wrap="square">
            <a:spAutoFit/>
          </a:bodyPr>
          <a:lstStyle/>
          <a:p>
            <a:pPr algn="l"/>
            <a:r>
              <a:rPr sz="880" b="0" i="0">
                <a:solidFill>
                  <a:srgbClr val="F0F0F5"/>
                </a:solidFill>
                <a:latin typeface="Arial"/>
              </a:rPr>
              <a:t>Legacy ETMs rely on mechanical keypads with 40+ tactile buttons, prone to thermal paper jams, monochrome screen glare, and zero error recovery.</a:t>
            </a:r>
          </a:p>
        </p:txBody>
      </p:sp>
      <p:sp>
        <p:nvSpPr>
          <p:cNvPr id="9" name="Rectangle 8"/>
          <p:cNvSpPr/>
          <p:nvPr/>
        </p:nvSpPr>
        <p:spPr>
          <a:xfrm>
            <a:off x="594360" y="2121408"/>
            <a:ext cx="4937760" cy="896112"/>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04088" y="2231136"/>
            <a:ext cx="1280160" cy="676656"/>
          </a:xfrm>
          <a:prstGeom prst="rect">
            <a:avLst/>
          </a:prstGeom>
          <a:solidFill>
            <a:srgbClr val="181832"/>
          </a:solidFill>
          <a:ln w="9525">
            <a:solidFill>
              <a:srgbClr val="448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2340864"/>
            <a:ext cx="1280160" cy="457200"/>
          </a:xfrm>
          <a:prstGeom prst="rect">
            <a:avLst/>
          </a:prstGeom>
          <a:noFill/>
        </p:spPr>
        <p:txBody>
          <a:bodyPr wrap="square">
            <a:spAutoFit/>
          </a:bodyPr>
          <a:lstStyle/>
          <a:p>
            <a:pPr algn="ctr"/>
            <a:r>
              <a:rPr sz="1300" b="1" i="0">
                <a:solidFill>
                  <a:srgbClr val="448AFF"/>
                </a:solidFill>
                <a:latin typeface="Arial"/>
              </a:rPr>
              <a:t>400–600</a:t>
            </a:r>
          </a:p>
        </p:txBody>
      </p:sp>
      <p:sp>
        <p:nvSpPr>
          <p:cNvPr id="12" name="TextBox 11"/>
          <p:cNvSpPr txBox="1"/>
          <p:nvPr/>
        </p:nvSpPr>
        <p:spPr>
          <a:xfrm>
            <a:off x="2103120" y="2231136"/>
            <a:ext cx="3291840" cy="676656"/>
          </a:xfrm>
          <a:prstGeom prst="rect">
            <a:avLst/>
          </a:prstGeom>
          <a:noFill/>
        </p:spPr>
        <p:txBody>
          <a:bodyPr wrap="square">
            <a:spAutoFit/>
          </a:bodyPr>
          <a:lstStyle/>
          <a:p>
            <a:pPr algn="l"/>
            <a:r>
              <a:rPr sz="880" b="0" i="0">
                <a:solidFill>
                  <a:srgbClr val="F0F0F5"/>
                </a:solidFill>
                <a:latin typeface="Arial"/>
              </a:rPr>
              <a:t>Tickets issued per 8-hour shift — every wasted second cascades into schedule delays across 25+ daily route stops.</a:t>
            </a:r>
          </a:p>
        </p:txBody>
      </p:sp>
      <p:sp>
        <p:nvSpPr>
          <p:cNvPr id="13" name="Rectangle 12"/>
          <p:cNvSpPr/>
          <p:nvPr/>
        </p:nvSpPr>
        <p:spPr>
          <a:xfrm>
            <a:off x="594360" y="3127248"/>
            <a:ext cx="4937760" cy="896112"/>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4088" y="3236976"/>
            <a:ext cx="1280160" cy="676656"/>
          </a:xfrm>
          <a:prstGeom prst="rect">
            <a:avLst/>
          </a:prstGeom>
          <a:solidFill>
            <a:srgbClr val="181832"/>
          </a:solidFill>
          <a:ln w="9525">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3346704"/>
            <a:ext cx="1280160" cy="457200"/>
          </a:xfrm>
          <a:prstGeom prst="rect">
            <a:avLst/>
          </a:prstGeom>
          <a:noFill/>
        </p:spPr>
        <p:txBody>
          <a:bodyPr wrap="square">
            <a:spAutoFit/>
          </a:bodyPr>
          <a:lstStyle/>
          <a:p>
            <a:pPr algn="ctr"/>
            <a:r>
              <a:rPr sz="1300" b="1" i="0">
                <a:solidFill>
                  <a:srgbClr val="00E676"/>
                </a:solidFill>
                <a:latin typeface="Arial"/>
              </a:rPr>
              <a:t>&lt; 4.0s Target</a:t>
            </a:r>
          </a:p>
        </p:txBody>
      </p:sp>
      <p:sp>
        <p:nvSpPr>
          <p:cNvPr id="16" name="TextBox 15"/>
          <p:cNvSpPr txBox="1"/>
          <p:nvPr/>
        </p:nvSpPr>
        <p:spPr>
          <a:xfrm>
            <a:off x="2103120" y="3236976"/>
            <a:ext cx="3291840" cy="676656"/>
          </a:xfrm>
          <a:prstGeom prst="rect">
            <a:avLst/>
          </a:prstGeom>
          <a:noFill/>
        </p:spPr>
        <p:txBody>
          <a:bodyPr wrap="square">
            <a:spAutoFit/>
          </a:bodyPr>
          <a:lstStyle/>
          <a:p>
            <a:pPr algn="l"/>
            <a:r>
              <a:rPr sz="880" b="0" i="0">
                <a:solidFill>
                  <a:srgbClr val="F0F0F5"/>
                </a:solidFill>
                <a:latin typeface="Arial"/>
              </a:rPr>
              <a:t>The core design challenge: Can a smartphone interface replace physical hardware in under 4 seconds per ticket while the bus is in motion?</a:t>
            </a:r>
          </a:p>
        </p:txBody>
      </p:sp>
      <p:sp>
        <p:nvSpPr>
          <p:cNvPr id="17" name="Rectangle 16"/>
          <p:cNvSpPr/>
          <p:nvPr/>
        </p:nvSpPr>
        <p:spPr>
          <a:xfrm>
            <a:off x="594360" y="4297680"/>
            <a:ext cx="4937760" cy="1737360"/>
          </a:xfrm>
          <a:prstGeom prst="rect">
            <a:avLst/>
          </a:prstGeom>
          <a:solidFill>
            <a:srgbClr val="061A12"/>
          </a:solidFill>
          <a:ln w="9525">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 y="4297680"/>
            <a:ext cx="4937760" cy="3175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407408"/>
            <a:ext cx="4572000" cy="274320"/>
          </a:xfrm>
          <a:prstGeom prst="rect">
            <a:avLst/>
          </a:prstGeom>
          <a:noFill/>
        </p:spPr>
        <p:txBody>
          <a:bodyPr wrap="square">
            <a:spAutoFit/>
          </a:bodyPr>
          <a:lstStyle/>
          <a:p>
            <a:pPr algn="l"/>
            <a:r>
              <a:rPr sz="1000" b="1" i="0">
                <a:solidFill>
                  <a:srgbClr val="00E676"/>
                </a:solidFill>
                <a:latin typeface="Arial"/>
              </a:rPr>
              <a:t>🔍 Critical Research Insight: Muscle Memory Over Visual Search</a:t>
            </a:r>
          </a:p>
        </p:txBody>
      </p:sp>
      <p:sp>
        <p:nvSpPr>
          <p:cNvPr id="20" name="TextBox 19"/>
          <p:cNvSpPr txBox="1"/>
          <p:nvPr/>
        </p:nvSpPr>
        <p:spPr>
          <a:xfrm>
            <a:off x="777240" y="4718304"/>
            <a:ext cx="4572000" cy="1188720"/>
          </a:xfrm>
          <a:prstGeom prst="rect">
            <a:avLst/>
          </a:prstGeom>
          <a:noFill/>
        </p:spPr>
        <p:txBody>
          <a:bodyPr wrap="square">
            <a:spAutoFit/>
          </a:bodyPr>
          <a:lstStyle/>
          <a:p>
            <a:pPr algn="l"/>
            <a:r>
              <a:rPr sz="900" b="0" i="1">
                <a:solidFill>
                  <a:srgbClr val="F0F0F5"/>
                </a:solidFill>
                <a:latin typeface="Arial"/>
              </a:rPr>
              <a:t>During peak boarding surges, conductors don't read screen menus — they rely entirely on tactile muscle memory. A digital transition fails if it forces them into multi-level navigation trees or unpredictable button placements. The interface must match their existing mental model of spatial consistency.</a:t>
            </a:r>
          </a:p>
        </p:txBody>
      </p:sp>
      <p:sp>
        <p:nvSpPr>
          <p:cNvPr id="21" name="TextBox 20"/>
          <p:cNvSpPr txBox="1"/>
          <p:nvPr/>
        </p:nvSpPr>
        <p:spPr>
          <a:xfrm>
            <a:off x="5989320" y="1078992"/>
            <a:ext cx="5577840" cy="228600"/>
          </a:xfrm>
          <a:prstGeom prst="rect">
            <a:avLst/>
          </a:prstGeom>
          <a:noFill/>
        </p:spPr>
        <p:txBody>
          <a:bodyPr wrap="square">
            <a:spAutoFit/>
          </a:bodyPr>
          <a:lstStyle/>
          <a:p>
            <a:pPr algn="l"/>
            <a:r>
              <a:rPr sz="950" b="1" i="0">
                <a:solidFill>
                  <a:srgbClr val="448AFF"/>
                </a:solidFill>
                <a:latin typeface="Arial"/>
              </a:rPr>
              <a:t>DAY IN THE LIFE: THE CONDUCTOR'S OPERATIONAL TIMELINE</a:t>
            </a:r>
          </a:p>
        </p:txBody>
      </p:sp>
      <p:sp>
        <p:nvSpPr>
          <p:cNvPr id="22" name="Rectangle 21"/>
          <p:cNvSpPr/>
          <p:nvPr/>
        </p:nvSpPr>
        <p:spPr>
          <a:xfrm>
            <a:off x="5989320" y="1371600"/>
            <a:ext cx="2697480" cy="1691640"/>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099048" y="1481328"/>
            <a:ext cx="1005840" cy="274320"/>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99048" y="1499616"/>
            <a:ext cx="1005840" cy="228600"/>
          </a:xfrm>
          <a:prstGeom prst="rect">
            <a:avLst/>
          </a:prstGeom>
          <a:noFill/>
        </p:spPr>
        <p:txBody>
          <a:bodyPr wrap="square">
            <a:spAutoFit/>
          </a:bodyPr>
          <a:lstStyle/>
          <a:p>
            <a:pPr algn="ctr"/>
            <a:r>
              <a:rPr sz="850" b="1" i="0">
                <a:solidFill>
                  <a:srgbClr val="FFB300"/>
                </a:solidFill>
                <a:latin typeface="Arial"/>
              </a:rPr>
              <a:t>4:30 AM</a:t>
            </a:r>
          </a:p>
        </p:txBody>
      </p:sp>
      <p:sp>
        <p:nvSpPr>
          <p:cNvPr id="25" name="TextBox 24"/>
          <p:cNvSpPr txBox="1"/>
          <p:nvPr/>
        </p:nvSpPr>
        <p:spPr>
          <a:xfrm>
            <a:off x="6099048" y="1810512"/>
            <a:ext cx="2478024" cy="274320"/>
          </a:xfrm>
          <a:prstGeom prst="rect">
            <a:avLst/>
          </a:prstGeom>
          <a:noFill/>
        </p:spPr>
        <p:txBody>
          <a:bodyPr wrap="square">
            <a:spAutoFit/>
          </a:bodyPr>
          <a:lstStyle/>
          <a:p>
            <a:pPr algn="l"/>
            <a:r>
              <a:rPr sz="1000" b="1" i="0">
                <a:solidFill>
                  <a:srgbClr val="FFFFFF"/>
                </a:solidFill>
                <a:latin typeface="Arial"/>
              </a:rPr>
              <a:t>Depot Roll Call</a:t>
            </a:r>
          </a:p>
        </p:txBody>
      </p:sp>
      <p:sp>
        <p:nvSpPr>
          <p:cNvPr id="26" name="TextBox 25"/>
          <p:cNvSpPr txBox="1"/>
          <p:nvPr/>
        </p:nvSpPr>
        <p:spPr>
          <a:xfrm>
            <a:off x="6099048" y="2103120"/>
            <a:ext cx="2478024" cy="868680"/>
          </a:xfrm>
          <a:prstGeom prst="rect">
            <a:avLst/>
          </a:prstGeom>
          <a:noFill/>
        </p:spPr>
        <p:txBody>
          <a:bodyPr wrap="square">
            <a:spAutoFit/>
          </a:bodyPr>
          <a:lstStyle/>
          <a:p>
            <a:pPr algn="l"/>
            <a:r>
              <a:rPr sz="819" b="0" i="0">
                <a:solidFill>
                  <a:srgbClr val="9E9EB0"/>
                </a:solidFill>
                <a:latin typeface="Arial"/>
              </a:rPr>
              <a:t>Conductor receives route assignment, cash float, and legacy ETM. Machine verification and paper roll check.</a:t>
            </a:r>
          </a:p>
        </p:txBody>
      </p:sp>
      <p:sp>
        <p:nvSpPr>
          <p:cNvPr id="27" name="Rectangle 26"/>
          <p:cNvSpPr/>
          <p:nvPr/>
        </p:nvSpPr>
        <p:spPr>
          <a:xfrm>
            <a:off x="8869680" y="1371600"/>
            <a:ext cx="2697480" cy="1691640"/>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79408" y="1481328"/>
            <a:ext cx="1005840" cy="274320"/>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79408" y="1499616"/>
            <a:ext cx="1005840" cy="228600"/>
          </a:xfrm>
          <a:prstGeom prst="rect">
            <a:avLst/>
          </a:prstGeom>
          <a:noFill/>
        </p:spPr>
        <p:txBody>
          <a:bodyPr wrap="square">
            <a:spAutoFit/>
          </a:bodyPr>
          <a:lstStyle/>
          <a:p>
            <a:pPr algn="ctr"/>
            <a:r>
              <a:rPr sz="850" b="1" i="0">
                <a:solidFill>
                  <a:srgbClr val="FFB300"/>
                </a:solidFill>
                <a:latin typeface="Arial"/>
              </a:rPr>
              <a:t>6:00–10:00 AM</a:t>
            </a:r>
          </a:p>
        </p:txBody>
      </p:sp>
      <p:sp>
        <p:nvSpPr>
          <p:cNvPr id="30" name="TextBox 29"/>
          <p:cNvSpPr txBox="1"/>
          <p:nvPr/>
        </p:nvSpPr>
        <p:spPr>
          <a:xfrm>
            <a:off x="8979408" y="1810512"/>
            <a:ext cx="2478024" cy="274320"/>
          </a:xfrm>
          <a:prstGeom prst="rect">
            <a:avLst/>
          </a:prstGeom>
          <a:noFill/>
        </p:spPr>
        <p:txBody>
          <a:bodyPr wrap="square">
            <a:spAutoFit/>
          </a:bodyPr>
          <a:lstStyle/>
          <a:p>
            <a:pPr algn="l"/>
            <a:r>
              <a:rPr sz="1000" b="1" i="0">
                <a:solidFill>
                  <a:srgbClr val="FFFFFF"/>
                </a:solidFill>
                <a:latin typeface="Arial"/>
              </a:rPr>
              <a:t>Morning Rush Hour</a:t>
            </a:r>
          </a:p>
        </p:txBody>
      </p:sp>
      <p:sp>
        <p:nvSpPr>
          <p:cNvPr id="31" name="TextBox 30"/>
          <p:cNvSpPr txBox="1"/>
          <p:nvPr/>
        </p:nvSpPr>
        <p:spPr>
          <a:xfrm>
            <a:off x="8979408" y="2103120"/>
            <a:ext cx="2478024" cy="868680"/>
          </a:xfrm>
          <a:prstGeom prst="rect">
            <a:avLst/>
          </a:prstGeom>
          <a:noFill/>
        </p:spPr>
        <p:txBody>
          <a:bodyPr wrap="square">
            <a:spAutoFit/>
          </a:bodyPr>
          <a:lstStyle/>
          <a:p>
            <a:pPr algn="l"/>
            <a:r>
              <a:rPr sz="819" b="0" i="0">
                <a:solidFill>
                  <a:srgbClr val="9E9EB0"/>
                </a:solidFill>
                <a:latin typeface="Arial"/>
              </a:rPr>
              <a:t>Standing in crowded aisle. Left hand holds loose cash &amp; coins; right hand operates device while bus lurches at stops.</a:t>
            </a:r>
          </a:p>
        </p:txBody>
      </p:sp>
      <p:sp>
        <p:nvSpPr>
          <p:cNvPr id="32" name="Rectangle 31"/>
          <p:cNvSpPr/>
          <p:nvPr/>
        </p:nvSpPr>
        <p:spPr>
          <a:xfrm>
            <a:off x="5989320" y="3246120"/>
            <a:ext cx="2697480" cy="1691640"/>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099048" y="3355848"/>
            <a:ext cx="1005840" cy="274320"/>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99048" y="3374136"/>
            <a:ext cx="1005840" cy="228600"/>
          </a:xfrm>
          <a:prstGeom prst="rect">
            <a:avLst/>
          </a:prstGeom>
          <a:noFill/>
        </p:spPr>
        <p:txBody>
          <a:bodyPr wrap="square">
            <a:spAutoFit/>
          </a:bodyPr>
          <a:lstStyle/>
          <a:p>
            <a:pPr algn="ctr"/>
            <a:r>
              <a:rPr sz="850" b="1" i="0">
                <a:solidFill>
                  <a:srgbClr val="FFB300"/>
                </a:solidFill>
                <a:latin typeface="Arial"/>
              </a:rPr>
              <a:t>Peak Surge</a:t>
            </a:r>
          </a:p>
        </p:txBody>
      </p:sp>
      <p:sp>
        <p:nvSpPr>
          <p:cNvPr id="35" name="TextBox 34"/>
          <p:cNvSpPr txBox="1"/>
          <p:nvPr/>
        </p:nvSpPr>
        <p:spPr>
          <a:xfrm>
            <a:off x="6099048" y="3685032"/>
            <a:ext cx="2478024" cy="274320"/>
          </a:xfrm>
          <a:prstGeom prst="rect">
            <a:avLst/>
          </a:prstGeom>
          <a:noFill/>
        </p:spPr>
        <p:txBody>
          <a:bodyPr wrap="square">
            <a:spAutoFit/>
          </a:bodyPr>
          <a:lstStyle/>
          <a:p>
            <a:pPr algn="l"/>
            <a:r>
              <a:rPr sz="1000" b="1" i="0">
                <a:solidFill>
                  <a:srgbClr val="FFFFFF"/>
                </a:solidFill>
                <a:latin typeface="Arial"/>
              </a:rPr>
              <a:t>Crowd Influx (3s Window)</a:t>
            </a:r>
          </a:p>
        </p:txBody>
      </p:sp>
      <p:sp>
        <p:nvSpPr>
          <p:cNvPr id="36" name="TextBox 35"/>
          <p:cNvSpPr txBox="1"/>
          <p:nvPr/>
        </p:nvSpPr>
        <p:spPr>
          <a:xfrm>
            <a:off x="6099048" y="3977640"/>
            <a:ext cx="2478024" cy="868680"/>
          </a:xfrm>
          <a:prstGeom prst="rect">
            <a:avLst/>
          </a:prstGeom>
          <a:noFill/>
        </p:spPr>
        <p:txBody>
          <a:bodyPr wrap="square">
            <a:spAutoFit/>
          </a:bodyPr>
          <a:lstStyle/>
          <a:p>
            <a:pPr algn="l"/>
            <a:r>
              <a:rPr sz="819" b="0" i="0">
                <a:solidFill>
                  <a:srgbClr val="9E9EB0"/>
                </a:solidFill>
                <a:latin typeface="Arial"/>
              </a:rPr>
              <a:t>8–10 passengers board simultaneously across 4 destinations. Conductor has ~3 seconds per passenger before bus departs.</a:t>
            </a:r>
          </a:p>
        </p:txBody>
      </p:sp>
      <p:sp>
        <p:nvSpPr>
          <p:cNvPr id="37" name="Rectangle 36"/>
          <p:cNvSpPr/>
          <p:nvPr/>
        </p:nvSpPr>
        <p:spPr>
          <a:xfrm>
            <a:off x="8869680" y="3246120"/>
            <a:ext cx="2697480" cy="1691640"/>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979408" y="3355848"/>
            <a:ext cx="1005840" cy="274320"/>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979408" y="3374136"/>
            <a:ext cx="1005840" cy="228600"/>
          </a:xfrm>
          <a:prstGeom prst="rect">
            <a:avLst/>
          </a:prstGeom>
          <a:noFill/>
        </p:spPr>
        <p:txBody>
          <a:bodyPr wrap="square">
            <a:spAutoFit/>
          </a:bodyPr>
          <a:lstStyle/>
          <a:p>
            <a:pPr algn="ctr"/>
            <a:r>
              <a:rPr sz="850" b="1" i="0">
                <a:solidFill>
                  <a:srgbClr val="FFB300"/>
                </a:solidFill>
                <a:latin typeface="Arial"/>
              </a:rPr>
              <a:t>End of Shift</a:t>
            </a:r>
          </a:p>
        </p:txBody>
      </p:sp>
      <p:sp>
        <p:nvSpPr>
          <p:cNvPr id="40" name="TextBox 39"/>
          <p:cNvSpPr txBox="1"/>
          <p:nvPr/>
        </p:nvSpPr>
        <p:spPr>
          <a:xfrm>
            <a:off x="8979408" y="3685032"/>
            <a:ext cx="2478024" cy="274320"/>
          </a:xfrm>
          <a:prstGeom prst="rect">
            <a:avLst/>
          </a:prstGeom>
          <a:noFill/>
        </p:spPr>
        <p:txBody>
          <a:bodyPr wrap="square">
            <a:spAutoFit/>
          </a:bodyPr>
          <a:lstStyle/>
          <a:p>
            <a:pPr algn="l"/>
            <a:r>
              <a:rPr sz="1000" b="1" i="0">
                <a:solidFill>
                  <a:srgbClr val="FFFFFF"/>
                </a:solidFill>
                <a:latin typeface="Arial"/>
              </a:rPr>
              <a:t>Cash Reconciliation</a:t>
            </a:r>
          </a:p>
        </p:txBody>
      </p:sp>
      <p:sp>
        <p:nvSpPr>
          <p:cNvPr id="41" name="TextBox 40"/>
          <p:cNvSpPr txBox="1"/>
          <p:nvPr/>
        </p:nvSpPr>
        <p:spPr>
          <a:xfrm>
            <a:off x="8979408" y="3977640"/>
            <a:ext cx="2478024" cy="868680"/>
          </a:xfrm>
          <a:prstGeom prst="rect">
            <a:avLst/>
          </a:prstGeom>
          <a:noFill/>
        </p:spPr>
        <p:txBody>
          <a:bodyPr wrap="square">
            <a:spAutoFit/>
          </a:bodyPr>
          <a:lstStyle/>
          <a:p>
            <a:pPr algn="l"/>
            <a:r>
              <a:rPr sz="819" b="0" i="0">
                <a:solidFill>
                  <a:srgbClr val="9E9EB0"/>
                </a:solidFill>
                <a:latin typeface="Arial"/>
              </a:rPr>
              <a:t>Manual shift settlement. ETM ticket total must balance against collected cash float down to the rupee. Discrepancy = fine.</a:t>
            </a:r>
          </a:p>
        </p:txBody>
      </p:sp>
      <p:sp>
        <p:nvSpPr>
          <p:cNvPr id="42" name="Rectangle 41"/>
          <p:cNvSpPr/>
          <p:nvPr/>
        </p:nvSpPr>
        <p:spPr>
          <a:xfrm>
            <a:off x="5989320" y="5166360"/>
            <a:ext cx="5577840" cy="868680"/>
          </a:xfrm>
          <a:prstGeom prst="rect">
            <a:avLst/>
          </a:prstGeom>
          <a:solidFill>
            <a:srgbClr val="181832"/>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26480" y="5230368"/>
            <a:ext cx="5303520" cy="201168"/>
          </a:xfrm>
          <a:prstGeom prst="rect">
            <a:avLst/>
          </a:prstGeom>
          <a:noFill/>
        </p:spPr>
        <p:txBody>
          <a:bodyPr wrap="square">
            <a:spAutoFit/>
          </a:bodyPr>
          <a:lstStyle/>
          <a:p>
            <a:pPr algn="l"/>
            <a:r>
              <a:rPr sz="800" b="1" i="0">
                <a:solidFill>
                  <a:srgbClr val="9E9EB0"/>
                </a:solidFill>
                <a:latin typeface="Arial"/>
              </a:rPr>
              <a:t>Hardware Comparison (Concept Comparison):</a:t>
            </a:r>
          </a:p>
        </p:txBody>
      </p:sp>
      <p:sp>
        <p:nvSpPr>
          <p:cNvPr id="44" name="TextBox 43"/>
          <p:cNvSpPr txBox="1"/>
          <p:nvPr/>
        </p:nvSpPr>
        <p:spPr>
          <a:xfrm>
            <a:off x="6126480" y="5468112"/>
            <a:ext cx="5303520" cy="237744"/>
          </a:xfrm>
          <a:prstGeom prst="rect">
            <a:avLst/>
          </a:prstGeom>
          <a:noFill/>
        </p:spPr>
        <p:txBody>
          <a:bodyPr wrap="square">
            <a:spAutoFit/>
          </a:bodyPr>
          <a:lstStyle/>
          <a:p>
            <a:pPr algn="l"/>
            <a:r>
              <a:rPr sz="819" b="0" i="0">
                <a:solidFill>
                  <a:srgbClr val="FF5252"/>
                </a:solidFill>
                <a:latin typeface="Arial"/>
              </a:rPr>
              <a:t>Legacy ETM: 40+ tactile keys • Thermal paper jams • No undo • Manual paper void</a:t>
            </a:r>
          </a:p>
        </p:txBody>
      </p:sp>
      <p:sp>
        <p:nvSpPr>
          <p:cNvPr id="45" name="TextBox 44"/>
          <p:cNvSpPr txBox="1"/>
          <p:nvPr/>
        </p:nvSpPr>
        <p:spPr>
          <a:xfrm>
            <a:off x="6126480" y="5715000"/>
            <a:ext cx="5303520" cy="237744"/>
          </a:xfrm>
          <a:prstGeom prst="rect">
            <a:avLst/>
          </a:prstGeom>
          <a:noFill/>
        </p:spPr>
        <p:txBody>
          <a:bodyPr wrap="square">
            <a:spAutoFit/>
          </a:bodyPr>
          <a:lstStyle/>
          <a:p>
            <a:pPr algn="l"/>
            <a:r>
              <a:rPr sz="819" b="0" i="0">
                <a:solidFill>
                  <a:srgbClr val="00E676"/>
                </a:solidFill>
                <a:latin typeface="Arial"/>
              </a:rPr>
              <a:t>ConductorOS: 3 taps • Haptic feedback • 5s undo window • Outdoor Sunlight Mode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594360" y="365760"/>
            <a:ext cx="11002975" cy="502920"/>
          </a:xfrm>
          <a:prstGeom prst="rect">
            <a:avLst/>
          </a:prstGeom>
          <a:noFill/>
        </p:spPr>
        <p:txBody>
          <a:bodyPr wrap="square">
            <a:spAutoFit/>
          </a:bodyPr>
          <a:lstStyle/>
          <a:p>
            <a:pPr algn="l"/>
            <a:r>
              <a:rPr sz="2300" b="1" i="0">
                <a:solidFill>
                  <a:srgbClr val="FFFFFF"/>
                </a:solidFill>
                <a:latin typeface="Arial"/>
              </a:rPr>
              <a:t>Data-informed empathy. Not assumptions.</a:t>
            </a:r>
          </a:p>
        </p:txBody>
      </p:sp>
      <p:sp>
        <p:nvSpPr>
          <p:cNvPr id="3" name="Rectangle 2"/>
          <p:cNvSpPr/>
          <p:nvPr/>
        </p:nvSpPr>
        <p:spPr>
          <a:xfrm>
            <a:off x="594360" y="896112"/>
            <a:ext cx="2011680" cy="3810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865815" y="6473952"/>
            <a:ext cx="731520" cy="274320"/>
          </a:xfrm>
          <a:prstGeom prst="rect">
            <a:avLst/>
          </a:prstGeom>
          <a:noFill/>
        </p:spPr>
        <p:txBody>
          <a:bodyPr wrap="square">
            <a:spAutoFit/>
          </a:bodyPr>
          <a:lstStyle/>
          <a:p>
            <a:pPr algn="r"/>
            <a:r>
              <a:rPr sz="800" b="0" i="0">
                <a:solidFill>
                  <a:srgbClr val="9E9EB0"/>
                </a:solidFill>
                <a:latin typeface="Arial"/>
              </a:rPr>
              <a:t>3 / 10</a:t>
            </a:r>
          </a:p>
        </p:txBody>
      </p:sp>
      <p:sp>
        <p:nvSpPr>
          <p:cNvPr id="5" name="Rectangle 4"/>
          <p:cNvSpPr/>
          <p:nvPr/>
        </p:nvSpPr>
        <p:spPr>
          <a:xfrm>
            <a:off x="594360" y="1115568"/>
            <a:ext cx="5349240" cy="1536192"/>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115568"/>
            <a:ext cx="5349240" cy="31750"/>
          </a:xfrm>
          <a:prstGeom prst="rect">
            <a:avLst/>
          </a:prstGeom>
          <a:solidFill>
            <a:srgbClr val="448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252728"/>
            <a:ext cx="384048" cy="384048"/>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280160"/>
            <a:ext cx="384048" cy="320040"/>
          </a:xfrm>
          <a:prstGeom prst="rect">
            <a:avLst/>
          </a:prstGeom>
          <a:noFill/>
        </p:spPr>
        <p:txBody>
          <a:bodyPr wrap="square">
            <a:spAutoFit/>
          </a:bodyPr>
          <a:lstStyle/>
          <a:p>
            <a:pPr algn="ctr"/>
            <a:r>
              <a:rPr sz="1400" b="0" i="0">
                <a:solidFill>
                  <a:srgbClr val="F0F0F5"/>
                </a:solidFill>
                <a:latin typeface="Arial"/>
              </a:rPr>
              <a:t>🎯</a:t>
            </a:r>
          </a:p>
        </p:txBody>
      </p:sp>
      <p:sp>
        <p:nvSpPr>
          <p:cNvPr id="9" name="TextBox 8"/>
          <p:cNvSpPr txBox="1"/>
          <p:nvPr/>
        </p:nvSpPr>
        <p:spPr>
          <a:xfrm>
            <a:off x="1216152" y="1280160"/>
            <a:ext cx="4617720" cy="274320"/>
          </a:xfrm>
          <a:prstGeom prst="rect">
            <a:avLst/>
          </a:prstGeom>
          <a:noFill/>
        </p:spPr>
        <p:txBody>
          <a:bodyPr wrap="square">
            <a:spAutoFit/>
          </a:bodyPr>
          <a:lstStyle/>
          <a:p>
            <a:pPr algn="l"/>
            <a:r>
              <a:rPr sz="1050" b="1" i="0">
                <a:solidFill>
                  <a:srgbClr val="FFFFFF"/>
                </a:solidFill>
                <a:latin typeface="Arial"/>
              </a:rPr>
              <a:t>INSIGHT 1: DESTINATION FREQUENCY</a:t>
            </a:r>
          </a:p>
        </p:txBody>
      </p:sp>
      <p:sp>
        <p:nvSpPr>
          <p:cNvPr id="10" name="TextBox 9"/>
          <p:cNvSpPr txBox="1"/>
          <p:nvPr/>
        </p:nvSpPr>
        <p:spPr>
          <a:xfrm>
            <a:off x="731520" y="1682496"/>
            <a:ext cx="5074920" cy="438912"/>
          </a:xfrm>
          <a:prstGeom prst="rect">
            <a:avLst/>
          </a:prstGeom>
          <a:noFill/>
        </p:spPr>
        <p:txBody>
          <a:bodyPr wrap="square">
            <a:spAutoFit/>
          </a:bodyPr>
          <a:lstStyle/>
          <a:p>
            <a:pPr algn="l"/>
            <a:r>
              <a:rPr sz="850" b="0" i="0">
                <a:solidFill>
                  <a:srgbClr val="F0F0F5"/>
                </a:solidFill>
                <a:latin typeface="Arial"/>
              </a:rPr>
              <a:t>Research Finding: 70–80% of passenger tickets go to just 3–4 key transit hubs per route (e.g. Majestic, Koramangala on Route 335E).</a:t>
            </a:r>
          </a:p>
        </p:txBody>
      </p:sp>
      <p:sp>
        <p:nvSpPr>
          <p:cNvPr id="11" name="Rectangle 10"/>
          <p:cNvSpPr/>
          <p:nvPr/>
        </p:nvSpPr>
        <p:spPr>
          <a:xfrm>
            <a:off x="731520" y="2139696"/>
            <a:ext cx="5074920" cy="402336"/>
          </a:xfrm>
          <a:prstGeom prst="rect">
            <a:avLst/>
          </a:prstGeom>
          <a:solidFill>
            <a:srgbClr val="181832"/>
          </a:solidFill>
          <a:ln w="6350">
            <a:solidFill>
              <a:srgbClr val="448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2176272"/>
            <a:ext cx="4946904" cy="329184"/>
          </a:xfrm>
          <a:prstGeom prst="rect">
            <a:avLst/>
          </a:prstGeom>
          <a:noFill/>
        </p:spPr>
        <p:txBody>
          <a:bodyPr wrap="square">
            <a:spAutoFit/>
          </a:bodyPr>
          <a:lstStyle/>
          <a:p>
            <a:pPr algn="l"/>
            <a:r>
              <a:rPr sz="800" b="0" i="1">
                <a:solidFill>
                  <a:srgbClr val="448AFF"/>
                </a:solidFill>
                <a:latin typeface="Arial"/>
              </a:rPr>
              <a:t>➔ Product Decision: Pareto Destination Grid: 4 large ~80px touch targets permanently anchored in prime touch zone; 4 secondary compact cards.</a:t>
            </a:r>
          </a:p>
        </p:txBody>
      </p:sp>
      <p:sp>
        <p:nvSpPr>
          <p:cNvPr id="13" name="Rectangle 12"/>
          <p:cNvSpPr/>
          <p:nvPr/>
        </p:nvSpPr>
        <p:spPr>
          <a:xfrm>
            <a:off x="594360" y="2761488"/>
            <a:ext cx="5349240" cy="1536192"/>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2761488"/>
            <a:ext cx="5349240" cy="3175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2898648"/>
            <a:ext cx="384048" cy="384048"/>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926080"/>
            <a:ext cx="384048" cy="320040"/>
          </a:xfrm>
          <a:prstGeom prst="rect">
            <a:avLst/>
          </a:prstGeom>
          <a:noFill/>
        </p:spPr>
        <p:txBody>
          <a:bodyPr wrap="square">
            <a:spAutoFit/>
          </a:bodyPr>
          <a:lstStyle/>
          <a:p>
            <a:pPr algn="ctr"/>
            <a:r>
              <a:rPr sz="1400" b="0" i="0">
                <a:solidFill>
                  <a:srgbClr val="F0F0F5"/>
                </a:solidFill>
                <a:latin typeface="Arial"/>
              </a:rPr>
              <a:t>💵</a:t>
            </a:r>
          </a:p>
        </p:txBody>
      </p:sp>
      <p:sp>
        <p:nvSpPr>
          <p:cNvPr id="17" name="TextBox 16"/>
          <p:cNvSpPr txBox="1"/>
          <p:nvPr/>
        </p:nvSpPr>
        <p:spPr>
          <a:xfrm>
            <a:off x="1216152" y="2926080"/>
            <a:ext cx="4617720" cy="274320"/>
          </a:xfrm>
          <a:prstGeom prst="rect">
            <a:avLst/>
          </a:prstGeom>
          <a:noFill/>
        </p:spPr>
        <p:txBody>
          <a:bodyPr wrap="square">
            <a:spAutoFit/>
          </a:bodyPr>
          <a:lstStyle/>
          <a:p>
            <a:pPr algn="l"/>
            <a:r>
              <a:rPr sz="1050" b="1" i="0">
                <a:solidFill>
                  <a:srgbClr val="FFFFFF"/>
                </a:solidFill>
                <a:latin typeface="Arial"/>
              </a:rPr>
              <a:t>INSIGHT 2: PAYMENT BEHAVIOR</a:t>
            </a:r>
          </a:p>
        </p:txBody>
      </p:sp>
      <p:sp>
        <p:nvSpPr>
          <p:cNvPr id="18" name="TextBox 17"/>
          <p:cNvSpPr txBox="1"/>
          <p:nvPr/>
        </p:nvSpPr>
        <p:spPr>
          <a:xfrm>
            <a:off x="731520" y="3328416"/>
            <a:ext cx="5074920" cy="438912"/>
          </a:xfrm>
          <a:prstGeom prst="rect">
            <a:avLst/>
          </a:prstGeom>
          <a:noFill/>
        </p:spPr>
        <p:txBody>
          <a:bodyPr wrap="square">
            <a:spAutoFit/>
          </a:bodyPr>
          <a:lstStyle/>
          <a:p>
            <a:pPr algn="l"/>
            <a:r>
              <a:rPr sz="850" b="0" i="0">
                <a:solidFill>
                  <a:srgbClr val="F0F0F5"/>
                </a:solidFill>
                <a:latin typeface="Arial"/>
              </a:rPr>
              <a:t>Research Finding: Cash accounts for 85%+ of all bus commuter transactions in urban India; digital UPI remains a minority due to network latency.</a:t>
            </a:r>
          </a:p>
        </p:txBody>
      </p:sp>
      <p:sp>
        <p:nvSpPr>
          <p:cNvPr id="19" name="Rectangle 18"/>
          <p:cNvSpPr/>
          <p:nvPr/>
        </p:nvSpPr>
        <p:spPr>
          <a:xfrm>
            <a:off x="731520" y="3785616"/>
            <a:ext cx="5074920" cy="402336"/>
          </a:xfrm>
          <a:prstGeom prst="rect">
            <a:avLst/>
          </a:prstGeom>
          <a:solidFill>
            <a:srgbClr val="181832"/>
          </a:solidFill>
          <a:ln w="635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 y="3822192"/>
            <a:ext cx="4946904" cy="329184"/>
          </a:xfrm>
          <a:prstGeom prst="rect">
            <a:avLst/>
          </a:prstGeom>
          <a:noFill/>
        </p:spPr>
        <p:txBody>
          <a:bodyPr wrap="square">
            <a:spAutoFit/>
          </a:bodyPr>
          <a:lstStyle/>
          <a:p>
            <a:pPr algn="l"/>
            <a:r>
              <a:rPr sz="800" b="0" i="1">
                <a:solidFill>
                  <a:srgbClr val="00E676"/>
                </a:solidFill>
                <a:latin typeface="Arial"/>
              </a:rPr>
              <a:t>➔ Product Decision: Cash as Pre-Selected Default: Payment selector collapsed into a 1-line control ('Cash | Change ▾'). Zero extra confirmation taps for 85% case.</a:t>
            </a:r>
          </a:p>
        </p:txBody>
      </p:sp>
      <p:sp>
        <p:nvSpPr>
          <p:cNvPr id="21" name="Rectangle 20"/>
          <p:cNvSpPr/>
          <p:nvPr/>
        </p:nvSpPr>
        <p:spPr>
          <a:xfrm>
            <a:off x="594360" y="4407408"/>
            <a:ext cx="5349240" cy="1536192"/>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94360" y="4407408"/>
            <a:ext cx="5349240" cy="3175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0" y="4544568"/>
            <a:ext cx="384048" cy="384048"/>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4572000"/>
            <a:ext cx="384048" cy="320040"/>
          </a:xfrm>
          <a:prstGeom prst="rect">
            <a:avLst/>
          </a:prstGeom>
          <a:noFill/>
        </p:spPr>
        <p:txBody>
          <a:bodyPr wrap="square">
            <a:spAutoFit/>
          </a:bodyPr>
          <a:lstStyle/>
          <a:p>
            <a:pPr algn="ctr"/>
            <a:r>
              <a:rPr sz="1400" b="0" i="0">
                <a:solidFill>
                  <a:srgbClr val="F0F0F5"/>
                </a:solidFill>
                <a:latin typeface="Arial"/>
              </a:rPr>
              <a:t>⏱️</a:t>
            </a:r>
          </a:p>
        </p:txBody>
      </p:sp>
      <p:sp>
        <p:nvSpPr>
          <p:cNvPr id="25" name="TextBox 24"/>
          <p:cNvSpPr txBox="1"/>
          <p:nvPr/>
        </p:nvSpPr>
        <p:spPr>
          <a:xfrm>
            <a:off x="1216152" y="4572000"/>
            <a:ext cx="4617720" cy="274320"/>
          </a:xfrm>
          <a:prstGeom prst="rect">
            <a:avLst/>
          </a:prstGeom>
          <a:noFill/>
        </p:spPr>
        <p:txBody>
          <a:bodyPr wrap="square">
            <a:spAutoFit/>
          </a:bodyPr>
          <a:lstStyle/>
          <a:p>
            <a:pPr algn="l"/>
            <a:r>
              <a:rPr sz="1050" b="1" i="0">
                <a:solidFill>
                  <a:srgbClr val="FFFFFF"/>
                </a:solidFill>
                <a:latin typeface="Arial"/>
              </a:rPr>
              <a:t>INSIGHT 3: SPEED REQUIREMENT</a:t>
            </a:r>
          </a:p>
        </p:txBody>
      </p:sp>
      <p:sp>
        <p:nvSpPr>
          <p:cNvPr id="26" name="TextBox 25"/>
          <p:cNvSpPr txBox="1"/>
          <p:nvPr/>
        </p:nvSpPr>
        <p:spPr>
          <a:xfrm>
            <a:off x="731520" y="4974336"/>
            <a:ext cx="5074920" cy="438912"/>
          </a:xfrm>
          <a:prstGeom prst="rect">
            <a:avLst/>
          </a:prstGeom>
          <a:noFill/>
        </p:spPr>
        <p:txBody>
          <a:bodyPr wrap="square">
            <a:spAutoFit/>
          </a:bodyPr>
          <a:lstStyle/>
          <a:p>
            <a:pPr algn="l"/>
            <a:r>
              <a:rPr sz="850" b="0" i="0">
                <a:solidFill>
                  <a:srgbClr val="F0F0F5"/>
                </a:solidFill>
                <a:latin typeface="Arial"/>
              </a:rPr>
              <a:t>Research Finding: The operational benchmark demands issuing a 3-passenger group ticket in under 4.0 seconds (maximum 3 taps).</a:t>
            </a:r>
          </a:p>
        </p:txBody>
      </p:sp>
      <p:sp>
        <p:nvSpPr>
          <p:cNvPr id="27" name="Rectangle 26"/>
          <p:cNvSpPr/>
          <p:nvPr/>
        </p:nvSpPr>
        <p:spPr>
          <a:xfrm>
            <a:off x="731520" y="5431536"/>
            <a:ext cx="5074920" cy="402336"/>
          </a:xfrm>
          <a:prstGeom prst="rect">
            <a:avLst/>
          </a:prstGeom>
          <a:solidFill>
            <a:srgbClr val="181832"/>
          </a:solidFill>
          <a:ln w="6350">
            <a:solidFill>
              <a:srgbClr val="FFB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5528" y="5468112"/>
            <a:ext cx="4946904" cy="329184"/>
          </a:xfrm>
          <a:prstGeom prst="rect">
            <a:avLst/>
          </a:prstGeom>
          <a:noFill/>
        </p:spPr>
        <p:txBody>
          <a:bodyPr wrap="square">
            <a:spAutoFit/>
          </a:bodyPr>
          <a:lstStyle/>
          <a:p>
            <a:pPr algn="l"/>
            <a:r>
              <a:rPr sz="800" b="0" i="1">
                <a:solidFill>
                  <a:srgbClr val="FFB300"/>
                </a:solidFill>
                <a:latin typeface="Arial"/>
              </a:rPr>
              <a:t>➔ Product Decision: Streamlined 3-Tap Flow: Prototype completes transaction in 2.1 seconds average — 47% faster than the target, verified with built-in flow timer.</a:t>
            </a:r>
          </a:p>
        </p:txBody>
      </p:sp>
      <p:sp>
        <p:nvSpPr>
          <p:cNvPr id="29" name="Rectangle 28"/>
          <p:cNvSpPr/>
          <p:nvPr/>
        </p:nvSpPr>
        <p:spPr>
          <a:xfrm>
            <a:off x="6245352" y="1115568"/>
            <a:ext cx="5349240" cy="1536192"/>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45352" y="1115568"/>
            <a:ext cx="5349240" cy="31750"/>
          </a:xfrm>
          <a:prstGeom prst="rect">
            <a:avLst/>
          </a:prstGeom>
          <a:solidFill>
            <a:srgbClr val="448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382512" y="1252728"/>
            <a:ext cx="384048" cy="384048"/>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82512" y="1280160"/>
            <a:ext cx="384048" cy="320040"/>
          </a:xfrm>
          <a:prstGeom prst="rect">
            <a:avLst/>
          </a:prstGeom>
          <a:noFill/>
        </p:spPr>
        <p:txBody>
          <a:bodyPr wrap="square">
            <a:spAutoFit/>
          </a:bodyPr>
          <a:lstStyle/>
          <a:p>
            <a:pPr algn="ctr"/>
            <a:r>
              <a:rPr sz="1400" b="0" i="0">
                <a:solidFill>
                  <a:srgbClr val="F0F0F5"/>
                </a:solidFill>
                <a:latin typeface="Arial"/>
              </a:rPr>
              <a:t>🤲</a:t>
            </a:r>
          </a:p>
        </p:txBody>
      </p:sp>
      <p:sp>
        <p:nvSpPr>
          <p:cNvPr id="33" name="TextBox 32"/>
          <p:cNvSpPr txBox="1"/>
          <p:nvPr/>
        </p:nvSpPr>
        <p:spPr>
          <a:xfrm>
            <a:off x="6867144" y="1280160"/>
            <a:ext cx="4617720" cy="274320"/>
          </a:xfrm>
          <a:prstGeom prst="rect">
            <a:avLst/>
          </a:prstGeom>
          <a:noFill/>
        </p:spPr>
        <p:txBody>
          <a:bodyPr wrap="square">
            <a:spAutoFit/>
          </a:bodyPr>
          <a:lstStyle/>
          <a:p>
            <a:pPr algn="l"/>
            <a:r>
              <a:rPr sz="1050" b="1" i="0">
                <a:solidFill>
                  <a:srgbClr val="FFFFFF"/>
                </a:solidFill>
                <a:latin typeface="Arial"/>
              </a:rPr>
              <a:t>INSIGHT 4: PHYSICAL ERGONOMICS</a:t>
            </a:r>
          </a:p>
        </p:txBody>
      </p:sp>
      <p:sp>
        <p:nvSpPr>
          <p:cNvPr id="34" name="TextBox 33"/>
          <p:cNvSpPr txBox="1"/>
          <p:nvPr/>
        </p:nvSpPr>
        <p:spPr>
          <a:xfrm>
            <a:off x="6382512" y="1682496"/>
            <a:ext cx="5074920" cy="438912"/>
          </a:xfrm>
          <a:prstGeom prst="rect">
            <a:avLst/>
          </a:prstGeom>
          <a:noFill/>
        </p:spPr>
        <p:txBody>
          <a:bodyPr wrap="square">
            <a:spAutoFit/>
          </a:bodyPr>
          <a:lstStyle/>
          <a:p>
            <a:pPr algn="l"/>
            <a:r>
              <a:rPr sz="850" b="0" i="0">
                <a:solidFill>
                  <a:srgbClr val="F0F0F5"/>
                </a:solidFill>
                <a:latin typeface="Arial"/>
              </a:rPr>
              <a:t>Research Finding: One-handed operation only. The conductor's non-dominant hand is permanently occupied clutching banknotes and loose coins.</a:t>
            </a:r>
          </a:p>
        </p:txBody>
      </p:sp>
      <p:sp>
        <p:nvSpPr>
          <p:cNvPr id="35" name="Rectangle 34"/>
          <p:cNvSpPr/>
          <p:nvPr/>
        </p:nvSpPr>
        <p:spPr>
          <a:xfrm>
            <a:off x="6382512" y="2139696"/>
            <a:ext cx="5074920" cy="402336"/>
          </a:xfrm>
          <a:prstGeom prst="rect">
            <a:avLst/>
          </a:prstGeom>
          <a:solidFill>
            <a:srgbClr val="181832"/>
          </a:solidFill>
          <a:ln w="6350">
            <a:solidFill>
              <a:srgbClr val="448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46520" y="2176272"/>
            <a:ext cx="4946904" cy="329184"/>
          </a:xfrm>
          <a:prstGeom prst="rect">
            <a:avLst/>
          </a:prstGeom>
          <a:noFill/>
        </p:spPr>
        <p:txBody>
          <a:bodyPr wrap="square">
            <a:spAutoFit/>
          </a:bodyPr>
          <a:lstStyle/>
          <a:p>
            <a:pPr algn="l"/>
            <a:r>
              <a:rPr sz="800" b="0" i="1">
                <a:solidFill>
                  <a:srgbClr val="448AFF"/>
                </a:solidFill>
                <a:latin typeface="Arial"/>
              </a:rPr>
              <a:t>➔ Product Decision: Bottom 65% Reachability: All actionable controls anchored in natural thumb zone; top 35% reserved strictly for read-only route status.</a:t>
            </a:r>
          </a:p>
        </p:txBody>
      </p:sp>
      <p:sp>
        <p:nvSpPr>
          <p:cNvPr id="37" name="Rectangle 36"/>
          <p:cNvSpPr/>
          <p:nvPr/>
        </p:nvSpPr>
        <p:spPr>
          <a:xfrm>
            <a:off x="6245352" y="2761488"/>
            <a:ext cx="5349240" cy="1536192"/>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45352" y="2761488"/>
            <a:ext cx="5349240" cy="31750"/>
          </a:xfrm>
          <a:prstGeom prst="rect">
            <a:avLst/>
          </a:prstGeom>
          <a:solidFill>
            <a:srgbClr val="FF52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382512" y="2898648"/>
            <a:ext cx="384048" cy="384048"/>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82512" y="2926080"/>
            <a:ext cx="384048" cy="320040"/>
          </a:xfrm>
          <a:prstGeom prst="rect">
            <a:avLst/>
          </a:prstGeom>
          <a:noFill/>
        </p:spPr>
        <p:txBody>
          <a:bodyPr wrap="square">
            <a:spAutoFit/>
          </a:bodyPr>
          <a:lstStyle/>
          <a:p>
            <a:pPr algn="ctr"/>
            <a:r>
              <a:rPr sz="1400" b="0" i="0">
                <a:solidFill>
                  <a:srgbClr val="F0F0F5"/>
                </a:solidFill>
                <a:latin typeface="Arial"/>
              </a:rPr>
              <a:t>♻️</a:t>
            </a:r>
          </a:p>
        </p:txBody>
      </p:sp>
      <p:sp>
        <p:nvSpPr>
          <p:cNvPr id="41" name="TextBox 40"/>
          <p:cNvSpPr txBox="1"/>
          <p:nvPr/>
        </p:nvSpPr>
        <p:spPr>
          <a:xfrm>
            <a:off x="6867144" y="2926080"/>
            <a:ext cx="4617720" cy="274320"/>
          </a:xfrm>
          <a:prstGeom prst="rect">
            <a:avLst/>
          </a:prstGeom>
          <a:noFill/>
        </p:spPr>
        <p:txBody>
          <a:bodyPr wrap="square">
            <a:spAutoFit/>
          </a:bodyPr>
          <a:lstStyle/>
          <a:p>
            <a:pPr algn="l"/>
            <a:r>
              <a:rPr sz="1050" b="1" i="0">
                <a:solidFill>
                  <a:srgbClr val="FFFFFF"/>
                </a:solidFill>
                <a:latin typeface="Arial"/>
              </a:rPr>
              <a:t>INSIGHT 5: ERROR RECOVERY</a:t>
            </a:r>
          </a:p>
        </p:txBody>
      </p:sp>
      <p:sp>
        <p:nvSpPr>
          <p:cNvPr id="42" name="TextBox 41"/>
          <p:cNvSpPr txBox="1"/>
          <p:nvPr/>
        </p:nvSpPr>
        <p:spPr>
          <a:xfrm>
            <a:off x="6382512" y="3328416"/>
            <a:ext cx="5074920" cy="438912"/>
          </a:xfrm>
          <a:prstGeom prst="rect">
            <a:avLst/>
          </a:prstGeom>
          <a:noFill/>
        </p:spPr>
        <p:txBody>
          <a:bodyPr wrap="square">
            <a:spAutoFit/>
          </a:bodyPr>
          <a:lstStyle/>
          <a:p>
            <a:pPr algn="l"/>
            <a:r>
              <a:rPr sz="850" b="0" i="0">
                <a:solidFill>
                  <a:srgbClr val="F0F0F5"/>
                </a:solidFill>
                <a:latin typeface="Arial"/>
              </a:rPr>
              <a:t>Research Finding: Wrong-destination taps occur predominantly within the first 2 seconds during hurried passenger onboarding.</a:t>
            </a:r>
          </a:p>
        </p:txBody>
      </p:sp>
      <p:sp>
        <p:nvSpPr>
          <p:cNvPr id="43" name="Rectangle 42"/>
          <p:cNvSpPr/>
          <p:nvPr/>
        </p:nvSpPr>
        <p:spPr>
          <a:xfrm>
            <a:off x="6382512" y="3785616"/>
            <a:ext cx="5074920" cy="402336"/>
          </a:xfrm>
          <a:prstGeom prst="rect">
            <a:avLst/>
          </a:prstGeom>
          <a:solidFill>
            <a:srgbClr val="181832"/>
          </a:solidFill>
          <a:ln w="6350">
            <a:solidFill>
              <a:srgbClr val="FF5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46520" y="3822192"/>
            <a:ext cx="4946904" cy="329184"/>
          </a:xfrm>
          <a:prstGeom prst="rect">
            <a:avLst/>
          </a:prstGeom>
          <a:noFill/>
        </p:spPr>
        <p:txBody>
          <a:bodyPr wrap="square">
            <a:spAutoFit/>
          </a:bodyPr>
          <a:lstStyle/>
          <a:p>
            <a:pPr algn="l"/>
            <a:r>
              <a:rPr sz="800" b="0" i="1">
                <a:solidFill>
                  <a:srgbClr val="FF5252"/>
                </a:solidFill>
                <a:latin typeface="Arial"/>
              </a:rPr>
              <a:t>➔ Product Decision: Dual Recovery Mechanism: Instant 'Change stop' back button on config screen + prominent 5-second undo window on issuance. Zero modal dialogs.</a:t>
            </a:r>
          </a:p>
        </p:txBody>
      </p:sp>
      <p:sp>
        <p:nvSpPr>
          <p:cNvPr id="45" name="Rectangle 44"/>
          <p:cNvSpPr/>
          <p:nvPr/>
        </p:nvSpPr>
        <p:spPr>
          <a:xfrm>
            <a:off x="6245352" y="4407408"/>
            <a:ext cx="5349240" cy="1536192"/>
          </a:xfrm>
          <a:prstGeom prst="rect">
            <a:avLst/>
          </a:prstGeom>
          <a:solidFill>
            <a:srgbClr val="061422"/>
          </a:solidFill>
          <a:ln w="9525">
            <a:solidFill>
              <a:srgbClr val="448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245352" y="4407408"/>
            <a:ext cx="5349240" cy="31750"/>
          </a:xfrm>
          <a:prstGeom prst="rect">
            <a:avLst/>
          </a:prstGeom>
          <a:solidFill>
            <a:srgbClr val="448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9944" y="4572000"/>
            <a:ext cx="5020056" cy="274320"/>
          </a:xfrm>
          <a:prstGeom prst="rect">
            <a:avLst/>
          </a:prstGeom>
          <a:noFill/>
        </p:spPr>
        <p:txBody>
          <a:bodyPr wrap="square">
            <a:spAutoFit/>
          </a:bodyPr>
          <a:lstStyle/>
          <a:p>
            <a:pPr algn="l"/>
            <a:r>
              <a:rPr sz="1050" b="1" i="0">
                <a:solidFill>
                  <a:srgbClr val="448AFF"/>
                </a:solidFill>
                <a:latin typeface="Arial"/>
              </a:rPr>
              <a:t>EMPATHY-DRIVEN PRODUCT ARCHITECTURE</a:t>
            </a:r>
          </a:p>
        </p:txBody>
      </p:sp>
      <p:sp>
        <p:nvSpPr>
          <p:cNvPr id="48" name="TextBox 47"/>
          <p:cNvSpPr txBox="1"/>
          <p:nvPr/>
        </p:nvSpPr>
        <p:spPr>
          <a:xfrm>
            <a:off x="6409944" y="4910328"/>
            <a:ext cx="5020056" cy="868680"/>
          </a:xfrm>
          <a:prstGeom prst="rect">
            <a:avLst/>
          </a:prstGeom>
          <a:noFill/>
        </p:spPr>
        <p:txBody>
          <a:bodyPr wrap="square">
            <a:spAutoFit/>
          </a:bodyPr>
          <a:lstStyle/>
          <a:p>
            <a:pPr algn="l"/>
            <a:r>
              <a:rPr sz="880" b="0" i="1">
                <a:solidFill>
                  <a:srgbClr val="F0F0F5"/>
                </a:solidFill>
                <a:latin typeface="Arial"/>
              </a:rPr>
              <a:t>Every single interaction, tap target, and color assignment in ConductorOS traces directly to observed physical constraints. None are designer assumptions. By respecting the conductor's physical environment, the interface eliminates cognitive friction and prevents revenue discrepancies.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594360" y="365760"/>
            <a:ext cx="11002975" cy="502920"/>
          </a:xfrm>
          <a:prstGeom prst="rect">
            <a:avLst/>
          </a:prstGeom>
          <a:noFill/>
        </p:spPr>
        <p:txBody>
          <a:bodyPr wrap="square">
            <a:spAutoFit/>
          </a:bodyPr>
          <a:lstStyle/>
          <a:p>
            <a:pPr algn="l"/>
            <a:r>
              <a:rPr sz="2300" b="1" i="0">
                <a:solidFill>
                  <a:srgbClr val="FFFFFF"/>
                </a:solidFill>
                <a:latin typeface="Arial"/>
              </a:rPr>
              <a:t>Six rules. Every pixel follows them.</a:t>
            </a:r>
          </a:p>
        </p:txBody>
      </p:sp>
      <p:sp>
        <p:nvSpPr>
          <p:cNvPr id="3" name="Rectangle 2"/>
          <p:cNvSpPr/>
          <p:nvPr/>
        </p:nvSpPr>
        <p:spPr>
          <a:xfrm>
            <a:off x="594360" y="896112"/>
            <a:ext cx="2011680" cy="3810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865815" y="6473952"/>
            <a:ext cx="731520" cy="274320"/>
          </a:xfrm>
          <a:prstGeom prst="rect">
            <a:avLst/>
          </a:prstGeom>
          <a:noFill/>
        </p:spPr>
        <p:txBody>
          <a:bodyPr wrap="square">
            <a:spAutoFit/>
          </a:bodyPr>
          <a:lstStyle/>
          <a:p>
            <a:pPr algn="r"/>
            <a:r>
              <a:rPr sz="800" b="0" i="0">
                <a:solidFill>
                  <a:srgbClr val="9E9EB0"/>
                </a:solidFill>
                <a:latin typeface="Arial"/>
              </a:rPr>
              <a:t>4 / 10</a:t>
            </a:r>
          </a:p>
        </p:txBody>
      </p:sp>
      <p:sp>
        <p:nvSpPr>
          <p:cNvPr id="5" name="Rectangle 4"/>
          <p:cNvSpPr/>
          <p:nvPr/>
        </p:nvSpPr>
        <p:spPr>
          <a:xfrm>
            <a:off x="594360" y="1115568"/>
            <a:ext cx="3291840" cy="1536192"/>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115568"/>
            <a:ext cx="3291840" cy="3175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04088" y="1225296"/>
            <a:ext cx="347472" cy="347472"/>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252728"/>
            <a:ext cx="347472" cy="274320"/>
          </a:xfrm>
          <a:prstGeom prst="rect">
            <a:avLst/>
          </a:prstGeom>
          <a:noFill/>
        </p:spPr>
        <p:txBody>
          <a:bodyPr wrap="square">
            <a:spAutoFit/>
          </a:bodyPr>
          <a:lstStyle/>
          <a:p>
            <a:pPr algn="ctr"/>
            <a:r>
              <a:rPr sz="1300" b="0" i="0">
                <a:solidFill>
                  <a:srgbClr val="F0F0F5"/>
                </a:solidFill>
                <a:latin typeface="Arial"/>
              </a:rPr>
              <a:t>🎯</a:t>
            </a:r>
          </a:p>
        </p:txBody>
      </p:sp>
      <p:sp>
        <p:nvSpPr>
          <p:cNvPr id="9" name="TextBox 8"/>
          <p:cNvSpPr txBox="1"/>
          <p:nvPr/>
        </p:nvSpPr>
        <p:spPr>
          <a:xfrm>
            <a:off x="1124712" y="1261872"/>
            <a:ext cx="2651760" cy="274320"/>
          </a:xfrm>
          <a:prstGeom prst="rect">
            <a:avLst/>
          </a:prstGeom>
          <a:noFill/>
        </p:spPr>
        <p:txBody>
          <a:bodyPr wrap="square">
            <a:spAutoFit/>
          </a:bodyPr>
          <a:lstStyle/>
          <a:p>
            <a:pPr algn="l"/>
            <a:r>
              <a:rPr sz="1000" b="1" i="0">
                <a:solidFill>
                  <a:srgbClr val="FFFFFF"/>
                </a:solidFill>
                <a:latin typeface="Arial"/>
              </a:rPr>
              <a:t>1. Thumb-First, Always</a:t>
            </a:r>
          </a:p>
        </p:txBody>
      </p:sp>
      <p:sp>
        <p:nvSpPr>
          <p:cNvPr id="10" name="TextBox 9"/>
          <p:cNvSpPr txBox="1"/>
          <p:nvPr/>
        </p:nvSpPr>
        <p:spPr>
          <a:xfrm>
            <a:off x="704088" y="1627632"/>
            <a:ext cx="3072384" cy="960120"/>
          </a:xfrm>
          <a:prstGeom prst="rect">
            <a:avLst/>
          </a:prstGeom>
          <a:noFill/>
        </p:spPr>
        <p:txBody>
          <a:bodyPr wrap="square">
            <a:spAutoFit/>
          </a:bodyPr>
          <a:lstStyle/>
          <a:p>
            <a:pPr algn="l"/>
            <a:r>
              <a:rPr sz="819" b="0" i="0">
                <a:solidFill>
                  <a:srgbClr val="9E9EB0"/>
                </a:solidFill>
                <a:latin typeface="Arial"/>
              </a:rPr>
              <a:t>All interactive elements live strictly in the bottom 65% of screen height — matching the natural thumb sweep arc for a one-handed grip.</a:t>
            </a:r>
          </a:p>
        </p:txBody>
      </p:sp>
      <p:sp>
        <p:nvSpPr>
          <p:cNvPr id="11" name="Rectangle 10"/>
          <p:cNvSpPr/>
          <p:nvPr/>
        </p:nvSpPr>
        <p:spPr>
          <a:xfrm>
            <a:off x="4069080" y="1115568"/>
            <a:ext cx="3291840" cy="1536192"/>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069080" y="1115568"/>
            <a:ext cx="3291840" cy="31750"/>
          </a:xfrm>
          <a:prstGeom prst="rect">
            <a:avLst/>
          </a:prstGeom>
          <a:solidFill>
            <a:srgbClr val="448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78808" y="1225296"/>
            <a:ext cx="347472" cy="347472"/>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78808" y="1252728"/>
            <a:ext cx="347472" cy="274320"/>
          </a:xfrm>
          <a:prstGeom prst="rect">
            <a:avLst/>
          </a:prstGeom>
          <a:noFill/>
        </p:spPr>
        <p:txBody>
          <a:bodyPr wrap="square">
            <a:spAutoFit/>
          </a:bodyPr>
          <a:lstStyle/>
          <a:p>
            <a:pPr algn="ctr"/>
            <a:r>
              <a:rPr sz="1300" b="0" i="0">
                <a:solidFill>
                  <a:srgbClr val="F0F0F5"/>
                </a:solidFill>
                <a:latin typeface="Arial"/>
              </a:rPr>
              <a:t>⚡</a:t>
            </a:r>
          </a:p>
        </p:txBody>
      </p:sp>
      <p:sp>
        <p:nvSpPr>
          <p:cNvPr id="15" name="TextBox 14"/>
          <p:cNvSpPr txBox="1"/>
          <p:nvPr/>
        </p:nvSpPr>
        <p:spPr>
          <a:xfrm>
            <a:off x="4599432" y="1261872"/>
            <a:ext cx="2651760" cy="274320"/>
          </a:xfrm>
          <a:prstGeom prst="rect">
            <a:avLst/>
          </a:prstGeom>
          <a:noFill/>
        </p:spPr>
        <p:txBody>
          <a:bodyPr wrap="square">
            <a:spAutoFit/>
          </a:bodyPr>
          <a:lstStyle/>
          <a:p>
            <a:pPr algn="l"/>
            <a:r>
              <a:rPr sz="1000" b="1" i="0">
                <a:solidFill>
                  <a:srgbClr val="FFFFFF"/>
                </a:solidFill>
                <a:latin typeface="Arial"/>
              </a:rPr>
              <a:t>2. Sub-Second Taps</a:t>
            </a:r>
          </a:p>
        </p:txBody>
      </p:sp>
      <p:sp>
        <p:nvSpPr>
          <p:cNvPr id="16" name="TextBox 15"/>
          <p:cNvSpPr txBox="1"/>
          <p:nvPr/>
        </p:nvSpPr>
        <p:spPr>
          <a:xfrm>
            <a:off x="4178808" y="1627632"/>
            <a:ext cx="3072384" cy="960120"/>
          </a:xfrm>
          <a:prstGeom prst="rect">
            <a:avLst/>
          </a:prstGeom>
          <a:noFill/>
        </p:spPr>
        <p:txBody>
          <a:bodyPr wrap="square">
            <a:spAutoFit/>
          </a:bodyPr>
          <a:lstStyle/>
          <a:p>
            <a:pPr algn="l"/>
            <a:r>
              <a:rPr sz="819" b="0" i="0">
                <a:solidFill>
                  <a:srgbClr val="9E9EB0"/>
                </a:solidFill>
                <a:latin typeface="Arial"/>
              </a:rPr>
              <a:t>The most frequent commuter scenario (1 pax, cash, top-4 stop) executes in exactly 1 tap via the Quick-Issue architecture.</a:t>
            </a:r>
          </a:p>
        </p:txBody>
      </p:sp>
      <p:sp>
        <p:nvSpPr>
          <p:cNvPr id="17" name="Rectangle 16"/>
          <p:cNvSpPr/>
          <p:nvPr/>
        </p:nvSpPr>
        <p:spPr>
          <a:xfrm>
            <a:off x="594360" y="2816352"/>
            <a:ext cx="3291840" cy="1536192"/>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 y="2816352"/>
            <a:ext cx="3291840" cy="3175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04088" y="2926080"/>
            <a:ext cx="347472" cy="347472"/>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2953512"/>
            <a:ext cx="347472" cy="274320"/>
          </a:xfrm>
          <a:prstGeom prst="rect">
            <a:avLst/>
          </a:prstGeom>
          <a:noFill/>
        </p:spPr>
        <p:txBody>
          <a:bodyPr wrap="square">
            <a:spAutoFit/>
          </a:bodyPr>
          <a:lstStyle/>
          <a:p>
            <a:pPr algn="ctr"/>
            <a:r>
              <a:rPr sz="1300" b="0" i="0">
                <a:solidFill>
                  <a:srgbClr val="F0F0F5"/>
                </a:solidFill>
                <a:latin typeface="Arial"/>
              </a:rPr>
              <a:t>👁️</a:t>
            </a:r>
          </a:p>
        </p:txBody>
      </p:sp>
      <p:sp>
        <p:nvSpPr>
          <p:cNvPr id="21" name="TextBox 20"/>
          <p:cNvSpPr txBox="1"/>
          <p:nvPr/>
        </p:nvSpPr>
        <p:spPr>
          <a:xfrm>
            <a:off x="1124712" y="2962656"/>
            <a:ext cx="2651760" cy="274320"/>
          </a:xfrm>
          <a:prstGeom prst="rect">
            <a:avLst/>
          </a:prstGeom>
          <a:noFill/>
        </p:spPr>
        <p:txBody>
          <a:bodyPr wrap="square">
            <a:spAutoFit/>
          </a:bodyPr>
          <a:lstStyle/>
          <a:p>
            <a:pPr algn="l"/>
            <a:r>
              <a:rPr sz="1000" b="1" i="0">
                <a:solidFill>
                  <a:srgbClr val="FFFFFF"/>
                </a:solidFill>
                <a:latin typeface="Arial"/>
              </a:rPr>
              <a:t>3. Glance-and-Go</a:t>
            </a:r>
          </a:p>
        </p:txBody>
      </p:sp>
      <p:sp>
        <p:nvSpPr>
          <p:cNvPr id="22" name="TextBox 21"/>
          <p:cNvSpPr txBox="1"/>
          <p:nvPr/>
        </p:nvSpPr>
        <p:spPr>
          <a:xfrm>
            <a:off x="704088" y="3328416"/>
            <a:ext cx="3072384" cy="960120"/>
          </a:xfrm>
          <a:prstGeom prst="rect">
            <a:avLst/>
          </a:prstGeom>
          <a:noFill/>
        </p:spPr>
        <p:txBody>
          <a:bodyPr wrap="square">
            <a:spAutoFit/>
          </a:bodyPr>
          <a:lstStyle/>
          <a:p>
            <a:pPr algn="l"/>
            <a:r>
              <a:rPr sz="819" b="0" i="0">
                <a:solidFill>
                  <a:srgbClr val="9E9EB0"/>
                </a:solidFill>
                <a:latin typeface="Arial"/>
              </a:rPr>
              <a:t>Destination typography uses bold 20px+ white; fare amounts use neutral white — strictly NOT green — separating data from actionable CTAs.</a:t>
            </a:r>
          </a:p>
        </p:txBody>
      </p:sp>
      <p:sp>
        <p:nvSpPr>
          <p:cNvPr id="23" name="Rectangle 22"/>
          <p:cNvSpPr/>
          <p:nvPr/>
        </p:nvSpPr>
        <p:spPr>
          <a:xfrm>
            <a:off x="4069080" y="2816352"/>
            <a:ext cx="3291840" cy="1536192"/>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069080" y="2816352"/>
            <a:ext cx="3291840" cy="31750"/>
          </a:xfrm>
          <a:prstGeom prst="rect">
            <a:avLst/>
          </a:prstGeom>
          <a:solidFill>
            <a:srgbClr val="448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78808" y="2926080"/>
            <a:ext cx="347472" cy="347472"/>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78808" y="2953512"/>
            <a:ext cx="347472" cy="274320"/>
          </a:xfrm>
          <a:prstGeom prst="rect">
            <a:avLst/>
          </a:prstGeom>
          <a:noFill/>
        </p:spPr>
        <p:txBody>
          <a:bodyPr wrap="square">
            <a:spAutoFit/>
          </a:bodyPr>
          <a:lstStyle/>
          <a:p>
            <a:pPr algn="ctr"/>
            <a:r>
              <a:rPr sz="1300" b="0" i="0">
                <a:solidFill>
                  <a:srgbClr val="F0F0F5"/>
                </a:solidFill>
                <a:latin typeface="Arial"/>
              </a:rPr>
              <a:t>🛡️</a:t>
            </a:r>
          </a:p>
        </p:txBody>
      </p:sp>
      <p:sp>
        <p:nvSpPr>
          <p:cNvPr id="27" name="TextBox 26"/>
          <p:cNvSpPr txBox="1"/>
          <p:nvPr/>
        </p:nvSpPr>
        <p:spPr>
          <a:xfrm>
            <a:off x="4599432" y="2962656"/>
            <a:ext cx="2651760" cy="274320"/>
          </a:xfrm>
          <a:prstGeom prst="rect">
            <a:avLst/>
          </a:prstGeom>
          <a:noFill/>
        </p:spPr>
        <p:txBody>
          <a:bodyPr wrap="square">
            <a:spAutoFit/>
          </a:bodyPr>
          <a:lstStyle/>
          <a:p>
            <a:pPr algn="l"/>
            <a:r>
              <a:rPr sz="1000" b="1" i="0">
                <a:solidFill>
                  <a:srgbClr val="FFFFFF"/>
                </a:solidFill>
                <a:latin typeface="Arial"/>
              </a:rPr>
              <a:t>4. Forgiveness by Default</a:t>
            </a:r>
          </a:p>
        </p:txBody>
      </p:sp>
      <p:sp>
        <p:nvSpPr>
          <p:cNvPr id="28" name="TextBox 27"/>
          <p:cNvSpPr txBox="1"/>
          <p:nvPr/>
        </p:nvSpPr>
        <p:spPr>
          <a:xfrm>
            <a:off x="4178808" y="3328416"/>
            <a:ext cx="3072384" cy="960120"/>
          </a:xfrm>
          <a:prstGeom prst="rect">
            <a:avLst/>
          </a:prstGeom>
          <a:noFill/>
        </p:spPr>
        <p:txBody>
          <a:bodyPr wrap="square">
            <a:spAutoFit/>
          </a:bodyPr>
          <a:lstStyle/>
          <a:p>
            <a:pPr algn="l"/>
            <a:r>
              <a:rPr sz="819" b="0" i="0">
                <a:solidFill>
                  <a:srgbClr val="9E9EB0"/>
                </a:solidFill>
                <a:latin typeface="Arial"/>
              </a:rPr>
              <a:t>5-second undo window following every issuance. Mistakes cost 1 tap and zero anxiety, preventing end-of-shift cash audit fines.</a:t>
            </a:r>
          </a:p>
        </p:txBody>
      </p:sp>
      <p:sp>
        <p:nvSpPr>
          <p:cNvPr id="29" name="Rectangle 28"/>
          <p:cNvSpPr/>
          <p:nvPr/>
        </p:nvSpPr>
        <p:spPr>
          <a:xfrm>
            <a:off x="594360" y="4517136"/>
            <a:ext cx="3291840" cy="1536192"/>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94360" y="4517136"/>
            <a:ext cx="3291840" cy="3175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04088" y="4626864"/>
            <a:ext cx="347472" cy="347472"/>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4088" y="4654296"/>
            <a:ext cx="347472" cy="274320"/>
          </a:xfrm>
          <a:prstGeom prst="rect">
            <a:avLst/>
          </a:prstGeom>
          <a:noFill/>
        </p:spPr>
        <p:txBody>
          <a:bodyPr wrap="square">
            <a:spAutoFit/>
          </a:bodyPr>
          <a:lstStyle/>
          <a:p>
            <a:pPr algn="ctr"/>
            <a:r>
              <a:rPr sz="1300" b="0" i="0">
                <a:solidFill>
                  <a:srgbClr val="F0F0F5"/>
                </a:solidFill>
                <a:latin typeface="Arial"/>
              </a:rPr>
              <a:t>📊</a:t>
            </a:r>
          </a:p>
        </p:txBody>
      </p:sp>
      <p:sp>
        <p:nvSpPr>
          <p:cNvPr id="33" name="TextBox 32"/>
          <p:cNvSpPr txBox="1"/>
          <p:nvPr/>
        </p:nvSpPr>
        <p:spPr>
          <a:xfrm>
            <a:off x="1124712" y="4663440"/>
            <a:ext cx="2651760" cy="274320"/>
          </a:xfrm>
          <a:prstGeom prst="rect">
            <a:avLst/>
          </a:prstGeom>
          <a:noFill/>
        </p:spPr>
        <p:txBody>
          <a:bodyPr wrap="square">
            <a:spAutoFit/>
          </a:bodyPr>
          <a:lstStyle/>
          <a:p>
            <a:pPr algn="l"/>
            <a:r>
              <a:rPr sz="1000" b="1" i="0">
                <a:solidFill>
                  <a:srgbClr val="FFFFFF"/>
                </a:solidFill>
                <a:latin typeface="Arial"/>
              </a:rPr>
              <a:t>5. Signal Over Noise</a:t>
            </a:r>
          </a:p>
        </p:txBody>
      </p:sp>
      <p:sp>
        <p:nvSpPr>
          <p:cNvPr id="34" name="TextBox 33"/>
          <p:cNvSpPr txBox="1"/>
          <p:nvPr/>
        </p:nvSpPr>
        <p:spPr>
          <a:xfrm>
            <a:off x="704088" y="5029200"/>
            <a:ext cx="3072384" cy="960120"/>
          </a:xfrm>
          <a:prstGeom prst="rect">
            <a:avLst/>
          </a:prstGeom>
          <a:noFill/>
        </p:spPr>
        <p:txBody>
          <a:bodyPr wrap="square">
            <a:spAutoFit/>
          </a:bodyPr>
          <a:lstStyle/>
          <a:p>
            <a:pPr algn="l"/>
            <a:r>
              <a:rPr sz="819" b="0" i="0">
                <a:solidFill>
                  <a:srgbClr val="9E9EB0"/>
                </a:solidFill>
                <a:latin typeface="Arial"/>
              </a:rPr>
              <a:t>Cash is the persistent default. Payment alternatives remain collapsed. The screen displays only state changes, eliminating visual clutter.</a:t>
            </a:r>
          </a:p>
        </p:txBody>
      </p:sp>
      <p:sp>
        <p:nvSpPr>
          <p:cNvPr id="35" name="Rectangle 34"/>
          <p:cNvSpPr/>
          <p:nvPr/>
        </p:nvSpPr>
        <p:spPr>
          <a:xfrm>
            <a:off x="4069080" y="4517136"/>
            <a:ext cx="3291840" cy="1536192"/>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069080" y="4517136"/>
            <a:ext cx="3291840" cy="31750"/>
          </a:xfrm>
          <a:prstGeom prst="rect">
            <a:avLst/>
          </a:prstGeom>
          <a:solidFill>
            <a:srgbClr val="448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78808" y="4626864"/>
            <a:ext cx="347472" cy="347472"/>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78808" y="4654296"/>
            <a:ext cx="347472" cy="274320"/>
          </a:xfrm>
          <a:prstGeom prst="rect">
            <a:avLst/>
          </a:prstGeom>
          <a:noFill/>
        </p:spPr>
        <p:txBody>
          <a:bodyPr wrap="square">
            <a:spAutoFit/>
          </a:bodyPr>
          <a:lstStyle/>
          <a:p>
            <a:pPr algn="ctr"/>
            <a:r>
              <a:rPr sz="1300" b="0" i="0">
                <a:solidFill>
                  <a:srgbClr val="F0F0F5"/>
                </a:solidFill>
                <a:latin typeface="Arial"/>
              </a:rPr>
              <a:t>💪</a:t>
            </a:r>
          </a:p>
        </p:txBody>
      </p:sp>
      <p:sp>
        <p:nvSpPr>
          <p:cNvPr id="39" name="TextBox 38"/>
          <p:cNvSpPr txBox="1"/>
          <p:nvPr/>
        </p:nvSpPr>
        <p:spPr>
          <a:xfrm>
            <a:off x="4599432" y="4663440"/>
            <a:ext cx="2651760" cy="274320"/>
          </a:xfrm>
          <a:prstGeom prst="rect">
            <a:avLst/>
          </a:prstGeom>
          <a:noFill/>
        </p:spPr>
        <p:txBody>
          <a:bodyPr wrap="square">
            <a:spAutoFit/>
          </a:bodyPr>
          <a:lstStyle/>
          <a:p>
            <a:pPr algn="l"/>
            <a:r>
              <a:rPr sz="1000" b="1" i="0">
                <a:solidFill>
                  <a:srgbClr val="FFFFFF"/>
                </a:solidFill>
                <a:latin typeface="Arial"/>
              </a:rPr>
              <a:t>6. Muscle Memory Friendly</a:t>
            </a:r>
          </a:p>
        </p:txBody>
      </p:sp>
      <p:sp>
        <p:nvSpPr>
          <p:cNvPr id="40" name="TextBox 39"/>
          <p:cNvSpPr txBox="1"/>
          <p:nvPr/>
        </p:nvSpPr>
        <p:spPr>
          <a:xfrm>
            <a:off x="4178808" y="5029200"/>
            <a:ext cx="3072384" cy="960120"/>
          </a:xfrm>
          <a:prstGeom prst="rect">
            <a:avLst/>
          </a:prstGeom>
          <a:noFill/>
        </p:spPr>
        <p:txBody>
          <a:bodyPr wrap="square">
            <a:spAutoFit/>
          </a:bodyPr>
          <a:lstStyle/>
          <a:p>
            <a:pPr algn="l"/>
            <a:r>
              <a:rPr sz="819" b="0" i="0">
                <a:solidFill>
                  <a:srgbClr val="9E9EB0"/>
                </a:solidFill>
                <a:latin typeface="Arial"/>
              </a:rPr>
              <a:t>The top 4 destinations remain pinned in immutable spatial coordinates across all trips, transforming conscious search into reflex.</a:t>
            </a:r>
          </a:p>
        </p:txBody>
      </p:sp>
      <p:sp>
        <p:nvSpPr>
          <p:cNvPr id="41" name="TextBox 40"/>
          <p:cNvSpPr txBox="1"/>
          <p:nvPr/>
        </p:nvSpPr>
        <p:spPr>
          <a:xfrm>
            <a:off x="7635240" y="1078992"/>
            <a:ext cx="3959352" cy="228600"/>
          </a:xfrm>
          <a:prstGeom prst="rect">
            <a:avLst/>
          </a:prstGeom>
          <a:noFill/>
        </p:spPr>
        <p:txBody>
          <a:bodyPr wrap="square">
            <a:spAutoFit/>
          </a:bodyPr>
          <a:lstStyle/>
          <a:p>
            <a:pPr algn="l"/>
            <a:r>
              <a:rPr sz="950" b="1" i="0">
                <a:solidFill>
                  <a:srgbClr val="448AFF"/>
                </a:solidFill>
                <a:latin typeface="Arial"/>
              </a:rPr>
              <a:t>NAVIGATION &amp; ONE-HANDED REACHABILITY MAP</a:t>
            </a:r>
          </a:p>
        </p:txBody>
      </p:sp>
      <p:sp>
        <p:nvSpPr>
          <p:cNvPr id="42" name="Rectangle 41"/>
          <p:cNvSpPr/>
          <p:nvPr/>
        </p:nvSpPr>
        <p:spPr>
          <a:xfrm>
            <a:off x="7635240" y="1371600"/>
            <a:ext cx="3959352" cy="3291840"/>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726680" y="1417320"/>
            <a:ext cx="3776472" cy="640080"/>
          </a:xfrm>
          <a:prstGeom prst="rect">
            <a:avLst/>
          </a:prstGeom>
          <a:solidFill>
            <a:srgbClr val="181832"/>
          </a:solidFill>
          <a:ln w="7620">
            <a:solidFill>
              <a:srgbClr val="FF5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99832" y="1453896"/>
            <a:ext cx="3630168" cy="219456"/>
          </a:xfrm>
          <a:prstGeom prst="rect">
            <a:avLst/>
          </a:prstGeom>
          <a:noFill/>
        </p:spPr>
        <p:txBody>
          <a:bodyPr wrap="square">
            <a:spAutoFit/>
          </a:bodyPr>
          <a:lstStyle/>
          <a:p>
            <a:pPr algn="l"/>
            <a:r>
              <a:rPr sz="800" b="1" i="0">
                <a:solidFill>
                  <a:srgbClr val="FF5252"/>
                </a:solidFill>
                <a:latin typeface="Arial"/>
              </a:rPr>
              <a:t>🔴 HARD REACH (Top 35%)</a:t>
            </a:r>
          </a:p>
        </p:txBody>
      </p:sp>
      <p:sp>
        <p:nvSpPr>
          <p:cNvPr id="45" name="TextBox 44"/>
          <p:cNvSpPr txBox="1"/>
          <p:nvPr/>
        </p:nvSpPr>
        <p:spPr>
          <a:xfrm>
            <a:off x="7799832" y="1645920"/>
            <a:ext cx="3630168" cy="384048"/>
          </a:xfrm>
          <a:prstGeom prst="rect">
            <a:avLst/>
          </a:prstGeom>
          <a:noFill/>
        </p:spPr>
        <p:txBody>
          <a:bodyPr wrap="square">
            <a:spAutoFit/>
          </a:bodyPr>
          <a:lstStyle/>
          <a:p>
            <a:pPr algn="l"/>
            <a:r>
              <a:rPr sz="750" b="0" i="0">
                <a:solidFill>
                  <a:srgbClr val="F0F0F5"/>
                </a:solidFill>
                <a:latin typeface="Arial"/>
              </a:rPr>
              <a:t>Route badge (335E) • Clock • Battery • Status (Read-Only Zone)</a:t>
            </a:r>
          </a:p>
        </p:txBody>
      </p:sp>
      <p:sp>
        <p:nvSpPr>
          <p:cNvPr id="46" name="Rectangle 45"/>
          <p:cNvSpPr/>
          <p:nvPr/>
        </p:nvSpPr>
        <p:spPr>
          <a:xfrm>
            <a:off x="7726680" y="2093976"/>
            <a:ext cx="3776472" cy="530352"/>
          </a:xfrm>
          <a:prstGeom prst="rect">
            <a:avLst/>
          </a:prstGeom>
          <a:solidFill>
            <a:srgbClr val="181832"/>
          </a:solidFill>
          <a:ln w="7620">
            <a:solidFill>
              <a:srgbClr val="FFB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799832" y="2130552"/>
            <a:ext cx="3630168" cy="219456"/>
          </a:xfrm>
          <a:prstGeom prst="rect">
            <a:avLst/>
          </a:prstGeom>
          <a:noFill/>
        </p:spPr>
        <p:txBody>
          <a:bodyPr wrap="square">
            <a:spAutoFit/>
          </a:bodyPr>
          <a:lstStyle/>
          <a:p>
            <a:pPr algn="l"/>
            <a:r>
              <a:rPr sz="800" b="1" i="0">
                <a:solidFill>
                  <a:srgbClr val="FFB300"/>
                </a:solidFill>
                <a:latin typeface="Arial"/>
              </a:rPr>
              <a:t>🟡 STRETCH ZONE</a:t>
            </a:r>
          </a:p>
        </p:txBody>
      </p:sp>
      <p:sp>
        <p:nvSpPr>
          <p:cNvPr id="48" name="TextBox 47"/>
          <p:cNvSpPr txBox="1"/>
          <p:nvPr/>
        </p:nvSpPr>
        <p:spPr>
          <a:xfrm>
            <a:off x="7799832" y="2322576"/>
            <a:ext cx="3630168" cy="274320"/>
          </a:xfrm>
          <a:prstGeom prst="rect">
            <a:avLst/>
          </a:prstGeom>
          <a:noFill/>
        </p:spPr>
        <p:txBody>
          <a:bodyPr wrap="square">
            <a:spAutoFit/>
          </a:bodyPr>
          <a:lstStyle/>
          <a:p>
            <a:pPr algn="l"/>
            <a:r>
              <a:rPr sz="750" b="0" i="0">
                <a:solidFill>
                  <a:srgbClr val="F0F0F5"/>
                </a:solidFill>
                <a:latin typeface="Arial"/>
              </a:rPr>
              <a:t>Current stop info • GPS stage badge • Visual indicators</a:t>
            </a:r>
          </a:p>
        </p:txBody>
      </p:sp>
      <p:sp>
        <p:nvSpPr>
          <p:cNvPr id="49" name="Rectangle 48"/>
          <p:cNvSpPr/>
          <p:nvPr/>
        </p:nvSpPr>
        <p:spPr>
          <a:xfrm>
            <a:off x="7726680" y="2660904"/>
            <a:ext cx="3776472" cy="1005840"/>
          </a:xfrm>
          <a:prstGeom prst="rect">
            <a:avLst/>
          </a:prstGeom>
          <a:solidFill>
            <a:srgbClr val="181832"/>
          </a:solidFill>
          <a:ln w="762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99832" y="2697480"/>
            <a:ext cx="3630168" cy="219456"/>
          </a:xfrm>
          <a:prstGeom prst="rect">
            <a:avLst/>
          </a:prstGeom>
          <a:noFill/>
        </p:spPr>
        <p:txBody>
          <a:bodyPr wrap="square">
            <a:spAutoFit/>
          </a:bodyPr>
          <a:lstStyle/>
          <a:p>
            <a:pPr algn="l"/>
            <a:r>
              <a:rPr sz="800" b="1" i="0">
                <a:solidFill>
                  <a:srgbClr val="00E676"/>
                </a:solidFill>
                <a:latin typeface="Arial"/>
              </a:rPr>
              <a:t>🟢 NATURAL THUMB ZONE</a:t>
            </a:r>
          </a:p>
        </p:txBody>
      </p:sp>
      <p:sp>
        <p:nvSpPr>
          <p:cNvPr id="51" name="TextBox 50"/>
          <p:cNvSpPr txBox="1"/>
          <p:nvPr/>
        </p:nvSpPr>
        <p:spPr>
          <a:xfrm>
            <a:off x="7799832" y="2889504"/>
            <a:ext cx="3630168" cy="749808"/>
          </a:xfrm>
          <a:prstGeom prst="rect">
            <a:avLst/>
          </a:prstGeom>
          <a:noFill/>
        </p:spPr>
        <p:txBody>
          <a:bodyPr wrap="square">
            <a:spAutoFit/>
          </a:bodyPr>
          <a:lstStyle/>
          <a:p>
            <a:pPr algn="l"/>
            <a:r>
              <a:rPr sz="750" b="0" i="0">
                <a:solidFill>
                  <a:srgbClr val="F0F0F5"/>
                </a:solidFill>
                <a:latin typeface="Arial"/>
              </a:rPr>
              <a:t>Pareto Destination Grid (Top 4 Large + Bottom 4 Compact Cards)</a:t>
            </a:r>
          </a:p>
        </p:txBody>
      </p:sp>
      <p:sp>
        <p:nvSpPr>
          <p:cNvPr id="52" name="Rectangle 51"/>
          <p:cNvSpPr/>
          <p:nvPr/>
        </p:nvSpPr>
        <p:spPr>
          <a:xfrm>
            <a:off x="7726680" y="3703320"/>
            <a:ext cx="3776472" cy="548640"/>
          </a:xfrm>
          <a:prstGeom prst="rect">
            <a:avLst/>
          </a:prstGeom>
          <a:solidFill>
            <a:srgbClr val="181832"/>
          </a:solidFill>
          <a:ln w="762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799832" y="3739896"/>
            <a:ext cx="3630168" cy="219456"/>
          </a:xfrm>
          <a:prstGeom prst="rect">
            <a:avLst/>
          </a:prstGeom>
          <a:noFill/>
        </p:spPr>
        <p:txBody>
          <a:bodyPr wrap="square">
            <a:spAutoFit/>
          </a:bodyPr>
          <a:lstStyle/>
          <a:p>
            <a:pPr algn="l"/>
            <a:r>
              <a:rPr sz="800" b="1" i="0">
                <a:solidFill>
                  <a:srgbClr val="00E676"/>
                </a:solidFill>
                <a:latin typeface="Arial"/>
              </a:rPr>
              <a:t>🟢 PRIME ACTION ZONE</a:t>
            </a:r>
          </a:p>
        </p:txBody>
      </p:sp>
      <p:sp>
        <p:nvSpPr>
          <p:cNvPr id="54" name="TextBox 53"/>
          <p:cNvSpPr txBox="1"/>
          <p:nvPr/>
        </p:nvSpPr>
        <p:spPr>
          <a:xfrm>
            <a:off x="7799832" y="3931920"/>
            <a:ext cx="3630168" cy="292608"/>
          </a:xfrm>
          <a:prstGeom prst="rect">
            <a:avLst/>
          </a:prstGeom>
          <a:noFill/>
        </p:spPr>
        <p:txBody>
          <a:bodyPr wrap="square">
            <a:spAutoFit/>
          </a:bodyPr>
          <a:lstStyle/>
          <a:p>
            <a:pPr algn="l"/>
            <a:r>
              <a:rPr sz="750" b="0" i="0">
                <a:solidFill>
                  <a:srgbClr val="F0F0F5"/>
                </a:solidFill>
                <a:latin typeface="Arial"/>
              </a:rPr>
              <a:t>64px Full-Width 'Issue Ticket' CTA (Impossible to miss)</a:t>
            </a:r>
          </a:p>
        </p:txBody>
      </p:sp>
      <p:sp>
        <p:nvSpPr>
          <p:cNvPr id="55" name="Rectangle 54"/>
          <p:cNvSpPr/>
          <p:nvPr/>
        </p:nvSpPr>
        <p:spPr>
          <a:xfrm>
            <a:off x="7726680" y="4288536"/>
            <a:ext cx="3776472" cy="457200"/>
          </a:xfrm>
          <a:prstGeom prst="rect">
            <a:avLst/>
          </a:prstGeom>
          <a:solidFill>
            <a:srgbClr val="181832"/>
          </a:solidFill>
          <a:ln w="7620">
            <a:solidFill>
              <a:srgbClr val="448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799832" y="4325112"/>
            <a:ext cx="3630168" cy="219456"/>
          </a:xfrm>
          <a:prstGeom prst="rect">
            <a:avLst/>
          </a:prstGeom>
          <a:noFill/>
        </p:spPr>
        <p:txBody>
          <a:bodyPr wrap="square">
            <a:spAutoFit/>
          </a:bodyPr>
          <a:lstStyle/>
          <a:p>
            <a:pPr algn="l"/>
            <a:r>
              <a:rPr sz="800" b="1" i="0">
                <a:solidFill>
                  <a:srgbClr val="448AFF"/>
                </a:solidFill>
                <a:latin typeface="Arial"/>
              </a:rPr>
              <a:t>🟢 QUICK RECOVERY ZONE</a:t>
            </a:r>
          </a:p>
        </p:txBody>
      </p:sp>
      <p:sp>
        <p:nvSpPr>
          <p:cNvPr id="57" name="TextBox 56"/>
          <p:cNvSpPr txBox="1"/>
          <p:nvPr/>
        </p:nvSpPr>
        <p:spPr>
          <a:xfrm>
            <a:off x="7799832" y="4517136"/>
            <a:ext cx="3630168" cy="201168"/>
          </a:xfrm>
          <a:prstGeom prst="rect">
            <a:avLst/>
          </a:prstGeom>
          <a:noFill/>
        </p:spPr>
        <p:txBody>
          <a:bodyPr wrap="square">
            <a:spAutoFit/>
          </a:bodyPr>
          <a:lstStyle/>
          <a:p>
            <a:pPr algn="l"/>
            <a:r>
              <a:rPr sz="750" b="0" i="0">
                <a:solidFill>
                  <a:srgbClr val="F0F0F5"/>
                </a:solidFill>
                <a:latin typeface="Arial"/>
              </a:rPr>
              <a:t>Undo &amp; Repeat controls pinned at screen base</a:t>
            </a:r>
          </a:p>
        </p:txBody>
      </p:sp>
      <p:sp>
        <p:nvSpPr>
          <p:cNvPr id="58" name="Rectangle 57"/>
          <p:cNvSpPr/>
          <p:nvPr/>
        </p:nvSpPr>
        <p:spPr>
          <a:xfrm>
            <a:off x="7635240" y="4800600"/>
            <a:ext cx="3959352" cy="1371600"/>
          </a:xfrm>
          <a:prstGeom prst="rect">
            <a:avLst/>
          </a:prstGeom>
          <a:solidFill>
            <a:srgbClr val="061810"/>
          </a:solidFill>
          <a:ln w="9525">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635240" y="4800600"/>
            <a:ext cx="3959352" cy="3175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772400" y="4882896"/>
            <a:ext cx="3685032" cy="228600"/>
          </a:xfrm>
          <a:prstGeom prst="rect">
            <a:avLst/>
          </a:prstGeom>
          <a:noFill/>
        </p:spPr>
        <p:txBody>
          <a:bodyPr wrap="square">
            <a:spAutoFit/>
          </a:bodyPr>
          <a:lstStyle/>
          <a:p>
            <a:pPr algn="l"/>
            <a:r>
              <a:rPr sz="900" b="1" i="0">
                <a:solidFill>
                  <a:srgbClr val="00E676"/>
                </a:solidFill>
                <a:latin typeface="Arial"/>
              </a:rPr>
              <a:t>THREE TOUCH-DESIGN RULES (ERGONOMICS)</a:t>
            </a:r>
          </a:p>
        </p:txBody>
      </p:sp>
      <p:sp>
        <p:nvSpPr>
          <p:cNvPr id="61" name="TextBox 60"/>
          <p:cNvSpPr txBox="1"/>
          <p:nvPr/>
        </p:nvSpPr>
        <p:spPr>
          <a:xfrm>
            <a:off x="7772400" y="5138928"/>
            <a:ext cx="3685032" cy="960120"/>
          </a:xfrm>
          <a:prstGeom prst="rect">
            <a:avLst/>
          </a:prstGeom>
          <a:noFill/>
        </p:spPr>
        <p:txBody>
          <a:bodyPr wrap="square">
            <a:spAutoFit/>
          </a:bodyPr>
          <a:lstStyle/>
          <a:p>
            <a:pPr algn="l"/>
            <a:r>
              <a:rPr sz="850" b="1" i="0">
                <a:solidFill>
                  <a:srgbClr val="FFFFFF"/>
                </a:solidFill>
                <a:latin typeface="Arial"/>
              </a:rPr>
              <a:t>1. 64px Primary CTA Height: </a:t>
            </a:r>
          </a:p>
          <a:p>
            <a:pPr algn="l"/>
            <a:r>
              <a:rPr sz="850" b="0" i="0">
                <a:solidFill>
                  <a:srgbClr val="9E9EB0"/>
                </a:solidFill>
                <a:latin typeface="Arial"/>
              </a:rPr>
              <a:t>Guarantees reliable thumb landing in a jolting vehicle.</a:t>
            </a:r>
          </a:p>
          <a:p>
            <a:pPr algn="l"/>
            <a:r>
              <a:rPr sz="850" b="1" i="0">
                <a:solidFill>
                  <a:srgbClr val="FFFFFF"/>
                </a:solidFill>
                <a:latin typeface="Arial"/>
              </a:rPr>
              <a:t>
2. 56px Minimum Touch Target: </a:t>
            </a:r>
          </a:p>
          <a:p>
            <a:pPr algn="l"/>
            <a:r>
              <a:rPr sz="850" b="0" i="0">
                <a:solidFill>
                  <a:srgbClr val="9E9EB0"/>
                </a:solidFill>
                <a:latin typeface="Arial"/>
              </a:rPr>
              <a:t>Exceeds Apple HIG (44px) &amp; Material Design (48px) standards.</a:t>
            </a:r>
          </a:p>
          <a:p>
            <a:pPr algn="l"/>
            <a:r>
              <a:rPr sz="850" b="1" i="0">
                <a:solidFill>
                  <a:srgbClr val="FFFFFF"/>
                </a:solidFill>
                <a:latin typeface="Arial"/>
              </a:rPr>
              <a:t>
3. 12px Minimum Spacing Gap: </a:t>
            </a:r>
          </a:p>
          <a:p>
            <a:pPr algn="l"/>
            <a:r>
              <a:rPr sz="850" b="0" i="0">
                <a:solidFill>
                  <a:srgbClr val="9E9EB0"/>
                </a:solidFill>
                <a:latin typeface="Arial"/>
              </a:rPr>
              <a:t>Eliminates fat-finger adjacent mis-taps during road bumps.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594360" y="365760"/>
            <a:ext cx="11002975" cy="502920"/>
          </a:xfrm>
          <a:prstGeom prst="rect">
            <a:avLst/>
          </a:prstGeom>
          <a:noFill/>
        </p:spPr>
        <p:txBody>
          <a:bodyPr wrap="square">
            <a:spAutoFit/>
          </a:bodyPr>
          <a:lstStyle/>
          <a:p>
            <a:pPr algn="l"/>
            <a:r>
              <a:rPr sz="2300" b="1" i="0">
                <a:solidFill>
                  <a:srgbClr val="FFFFFF"/>
                </a:solidFill>
                <a:latin typeface="Arial"/>
              </a:rPr>
              <a:t>Signal over noise: show what matters first.</a:t>
            </a:r>
          </a:p>
        </p:txBody>
      </p:sp>
      <p:sp>
        <p:nvSpPr>
          <p:cNvPr id="3" name="Rectangle 2"/>
          <p:cNvSpPr/>
          <p:nvPr/>
        </p:nvSpPr>
        <p:spPr>
          <a:xfrm>
            <a:off x="594360" y="896112"/>
            <a:ext cx="2011680" cy="3810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865815" y="6473952"/>
            <a:ext cx="731520" cy="274320"/>
          </a:xfrm>
          <a:prstGeom prst="rect">
            <a:avLst/>
          </a:prstGeom>
          <a:noFill/>
        </p:spPr>
        <p:txBody>
          <a:bodyPr wrap="square">
            <a:spAutoFit/>
          </a:bodyPr>
          <a:lstStyle/>
          <a:p>
            <a:pPr algn="r"/>
            <a:r>
              <a:rPr sz="800" b="0" i="0">
                <a:solidFill>
                  <a:srgbClr val="9E9EB0"/>
                </a:solidFill>
                <a:latin typeface="Arial"/>
              </a:rPr>
              <a:t>5 / 10</a:t>
            </a:r>
          </a:p>
        </p:txBody>
      </p:sp>
      <p:sp>
        <p:nvSpPr>
          <p:cNvPr id="5" name="TextBox 4"/>
          <p:cNvSpPr txBox="1"/>
          <p:nvPr/>
        </p:nvSpPr>
        <p:spPr>
          <a:xfrm>
            <a:off x="594360" y="1078992"/>
            <a:ext cx="5303520" cy="228600"/>
          </a:xfrm>
          <a:prstGeom prst="rect">
            <a:avLst/>
          </a:prstGeom>
          <a:noFill/>
        </p:spPr>
        <p:txBody>
          <a:bodyPr wrap="square">
            <a:spAutoFit/>
          </a:bodyPr>
          <a:lstStyle/>
          <a:p>
            <a:pPr algn="l"/>
            <a:r>
              <a:rPr sz="950" b="1" i="0">
                <a:solidFill>
                  <a:srgbClr val="448AFF"/>
                </a:solidFill>
                <a:latin typeface="Arial"/>
              </a:rPr>
              <a:t>FOUR-TIER PROGRESSIVE DISCLOSURE ARCHITECTURE</a:t>
            </a:r>
          </a:p>
        </p:txBody>
      </p:sp>
      <p:sp>
        <p:nvSpPr>
          <p:cNvPr id="6" name="Rectangle 5"/>
          <p:cNvSpPr/>
          <p:nvPr/>
        </p:nvSpPr>
        <p:spPr>
          <a:xfrm>
            <a:off x="594360" y="1353312"/>
            <a:ext cx="5303520" cy="676656"/>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353312"/>
            <a:ext cx="91440" cy="676656"/>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426464"/>
            <a:ext cx="4983480" cy="228600"/>
          </a:xfrm>
          <a:prstGeom prst="rect">
            <a:avLst/>
          </a:prstGeom>
          <a:noFill/>
        </p:spPr>
        <p:txBody>
          <a:bodyPr wrap="square">
            <a:spAutoFit/>
          </a:bodyPr>
          <a:lstStyle/>
          <a:p>
            <a:pPr algn="l"/>
            <a:r>
              <a:rPr sz="880" b="1" i="0">
                <a:solidFill>
                  <a:srgbClr val="00E676"/>
                </a:solidFill>
                <a:latin typeface="Arial"/>
              </a:rPr>
              <a:t>TIER 1 — ALWAYS VISIBLE (0 TAPS)</a:t>
            </a:r>
          </a:p>
        </p:txBody>
      </p:sp>
      <p:sp>
        <p:nvSpPr>
          <p:cNvPr id="9" name="TextBox 8"/>
          <p:cNvSpPr txBox="1"/>
          <p:nvPr/>
        </p:nvSpPr>
        <p:spPr>
          <a:xfrm>
            <a:off x="795528" y="1664208"/>
            <a:ext cx="4983480" cy="320040"/>
          </a:xfrm>
          <a:prstGeom prst="rect">
            <a:avLst/>
          </a:prstGeom>
          <a:noFill/>
        </p:spPr>
        <p:txBody>
          <a:bodyPr wrap="square">
            <a:spAutoFit/>
          </a:bodyPr>
          <a:lstStyle/>
          <a:p>
            <a:pPr algn="l"/>
            <a:r>
              <a:rPr sz="800" b="0" i="0">
                <a:solidFill>
                  <a:srgbClr val="F0F0F5"/>
                </a:solidFill>
                <a:latin typeface="Arial"/>
              </a:rPr>
              <a:t>Route ID (335E) • Current GPS Stop • Pareto Destination Grid • Issue CTA</a:t>
            </a:r>
          </a:p>
        </p:txBody>
      </p:sp>
      <p:sp>
        <p:nvSpPr>
          <p:cNvPr id="10" name="Rectangle 9"/>
          <p:cNvSpPr/>
          <p:nvPr/>
        </p:nvSpPr>
        <p:spPr>
          <a:xfrm>
            <a:off x="594360" y="2157984"/>
            <a:ext cx="5303520" cy="676656"/>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157984"/>
            <a:ext cx="91440" cy="676656"/>
          </a:xfrm>
          <a:prstGeom prst="rect">
            <a:avLst/>
          </a:prstGeom>
          <a:solidFill>
            <a:srgbClr val="448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2231136"/>
            <a:ext cx="4983480" cy="228600"/>
          </a:xfrm>
          <a:prstGeom prst="rect">
            <a:avLst/>
          </a:prstGeom>
          <a:noFill/>
        </p:spPr>
        <p:txBody>
          <a:bodyPr wrap="square">
            <a:spAutoFit/>
          </a:bodyPr>
          <a:lstStyle/>
          <a:p>
            <a:pPr algn="l"/>
            <a:r>
              <a:rPr sz="880" b="1" i="0">
                <a:solidFill>
                  <a:srgbClr val="448AFF"/>
                </a:solidFill>
                <a:latin typeface="Arial"/>
              </a:rPr>
              <a:t>TIER 2 — ONE TAP / CONFIGURATION</a:t>
            </a:r>
          </a:p>
        </p:txBody>
      </p:sp>
      <p:sp>
        <p:nvSpPr>
          <p:cNvPr id="13" name="TextBox 12"/>
          <p:cNvSpPr txBox="1"/>
          <p:nvPr/>
        </p:nvSpPr>
        <p:spPr>
          <a:xfrm>
            <a:off x="795528" y="2468880"/>
            <a:ext cx="4983480" cy="320040"/>
          </a:xfrm>
          <a:prstGeom prst="rect">
            <a:avLst/>
          </a:prstGeom>
          <a:noFill/>
        </p:spPr>
        <p:txBody>
          <a:bodyPr wrap="square">
            <a:spAutoFit/>
          </a:bodyPr>
          <a:lstStyle/>
          <a:p>
            <a:pPr algn="l"/>
            <a:r>
              <a:rPr sz="800" b="0" i="0">
                <a:solidFill>
                  <a:srgbClr val="F0F0F5"/>
                </a:solidFill>
                <a:latin typeface="Arial"/>
              </a:rPr>
              <a:t>Passenger Count Selector (1–5+) • Payment Toggle • Real-Time Fare Total</a:t>
            </a:r>
          </a:p>
        </p:txBody>
      </p:sp>
      <p:sp>
        <p:nvSpPr>
          <p:cNvPr id="14" name="Rectangle 13"/>
          <p:cNvSpPr/>
          <p:nvPr/>
        </p:nvSpPr>
        <p:spPr>
          <a:xfrm>
            <a:off x="594360" y="2962656"/>
            <a:ext cx="5303520" cy="676656"/>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2962656"/>
            <a:ext cx="91440" cy="676656"/>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 y="3035808"/>
            <a:ext cx="4983480" cy="228600"/>
          </a:xfrm>
          <a:prstGeom prst="rect">
            <a:avLst/>
          </a:prstGeom>
          <a:noFill/>
        </p:spPr>
        <p:txBody>
          <a:bodyPr wrap="square">
            <a:spAutoFit/>
          </a:bodyPr>
          <a:lstStyle/>
          <a:p>
            <a:pPr algn="l"/>
            <a:r>
              <a:rPr sz="880" b="1" i="0">
                <a:solidFill>
                  <a:srgbClr val="FFB300"/>
                </a:solidFill>
                <a:latin typeface="Arial"/>
              </a:rPr>
              <a:t>TIER 3 — CONTEXTUAL / POST-ACTION</a:t>
            </a:r>
          </a:p>
        </p:txBody>
      </p:sp>
      <p:sp>
        <p:nvSpPr>
          <p:cNvPr id="17" name="TextBox 16"/>
          <p:cNvSpPr txBox="1"/>
          <p:nvPr/>
        </p:nvSpPr>
        <p:spPr>
          <a:xfrm>
            <a:off x="795528" y="3273552"/>
            <a:ext cx="4983480" cy="320040"/>
          </a:xfrm>
          <a:prstGeom prst="rect">
            <a:avLst/>
          </a:prstGeom>
          <a:noFill/>
        </p:spPr>
        <p:txBody>
          <a:bodyPr wrap="square">
            <a:spAutoFit/>
          </a:bodyPr>
          <a:lstStyle/>
          <a:p>
            <a:pPr algn="l"/>
            <a:r>
              <a:rPr sz="800" b="0" i="0">
                <a:solidFill>
                  <a:srgbClr val="F0F0F5"/>
                </a:solidFill>
                <a:latin typeface="Arial"/>
              </a:rPr>
              <a:t>Success Animation • 5s Undo Window • Instant Repeat Previous Ticket</a:t>
            </a:r>
          </a:p>
        </p:txBody>
      </p:sp>
      <p:sp>
        <p:nvSpPr>
          <p:cNvPr id="18" name="Rectangle 17"/>
          <p:cNvSpPr/>
          <p:nvPr/>
        </p:nvSpPr>
        <p:spPr>
          <a:xfrm>
            <a:off x="594360" y="3767328"/>
            <a:ext cx="5303520" cy="676656"/>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4360" y="3767328"/>
            <a:ext cx="91440" cy="676656"/>
          </a:xfrm>
          <a:prstGeom prst="rect">
            <a:avLst/>
          </a:prstGeom>
          <a:solidFill>
            <a:srgbClr val="9E9E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 y="3840480"/>
            <a:ext cx="4983480" cy="228600"/>
          </a:xfrm>
          <a:prstGeom prst="rect">
            <a:avLst/>
          </a:prstGeom>
          <a:noFill/>
        </p:spPr>
        <p:txBody>
          <a:bodyPr wrap="square">
            <a:spAutoFit/>
          </a:bodyPr>
          <a:lstStyle/>
          <a:p>
            <a:pPr algn="l"/>
            <a:r>
              <a:rPr sz="880" b="1" i="0">
                <a:solidFill>
                  <a:srgbClr val="9E9EB0"/>
                </a:solidFill>
                <a:latin typeface="Arial"/>
              </a:rPr>
              <a:t>TIER 4 — HIDDEN FROM PRIMARY FLOW</a:t>
            </a:r>
          </a:p>
        </p:txBody>
      </p:sp>
      <p:sp>
        <p:nvSpPr>
          <p:cNvPr id="21" name="TextBox 20"/>
          <p:cNvSpPr txBox="1"/>
          <p:nvPr/>
        </p:nvSpPr>
        <p:spPr>
          <a:xfrm>
            <a:off x="795528" y="4078224"/>
            <a:ext cx="4983480" cy="320040"/>
          </a:xfrm>
          <a:prstGeom prst="rect">
            <a:avLst/>
          </a:prstGeom>
          <a:noFill/>
        </p:spPr>
        <p:txBody>
          <a:bodyPr wrap="square">
            <a:spAutoFit/>
          </a:bodyPr>
          <a:lstStyle/>
          <a:p>
            <a:pPr algn="l"/>
            <a:r>
              <a:rPr sz="800" b="0" i="0">
                <a:solidFill>
                  <a:srgbClr val="F0F0F5"/>
                </a:solidFill>
                <a:latin typeface="Arial"/>
              </a:rPr>
              <a:t>Shift Collection Summary • Route Settlement • Hardware Settings • Help</a:t>
            </a:r>
          </a:p>
        </p:txBody>
      </p:sp>
      <p:sp>
        <p:nvSpPr>
          <p:cNvPr id="22" name="Rectangle 21"/>
          <p:cNvSpPr/>
          <p:nvPr/>
        </p:nvSpPr>
        <p:spPr>
          <a:xfrm>
            <a:off x="594360" y="4590288"/>
            <a:ext cx="5303520" cy="1572768"/>
          </a:xfrm>
          <a:prstGeom prst="rect">
            <a:avLst/>
          </a:prstGeom>
          <a:solidFill>
            <a:srgbClr val="181832"/>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 y="4681728"/>
            <a:ext cx="4974336" cy="228600"/>
          </a:xfrm>
          <a:prstGeom prst="rect">
            <a:avLst/>
          </a:prstGeom>
          <a:noFill/>
        </p:spPr>
        <p:txBody>
          <a:bodyPr wrap="square">
            <a:spAutoFit/>
          </a:bodyPr>
          <a:lstStyle/>
          <a:p>
            <a:pPr algn="l"/>
            <a:r>
              <a:rPr sz="900" b="1" i="0">
                <a:solidFill>
                  <a:srgbClr val="FFFFFF"/>
                </a:solidFill>
                <a:latin typeface="Arial"/>
              </a:rPr>
              <a:t>PARETO GRID DESIGN RATIONALE (ROUTE 335E)</a:t>
            </a:r>
          </a:p>
        </p:txBody>
      </p:sp>
      <p:sp>
        <p:nvSpPr>
          <p:cNvPr id="24" name="TextBox 23"/>
          <p:cNvSpPr txBox="1"/>
          <p:nvPr/>
        </p:nvSpPr>
        <p:spPr>
          <a:xfrm>
            <a:off x="758952" y="4937760"/>
            <a:ext cx="4974336" cy="1143000"/>
          </a:xfrm>
          <a:prstGeom prst="rect">
            <a:avLst/>
          </a:prstGeom>
          <a:noFill/>
        </p:spPr>
        <p:txBody>
          <a:bodyPr wrap="square">
            <a:spAutoFit/>
          </a:bodyPr>
          <a:lstStyle/>
          <a:p>
            <a:pPr algn="l"/>
            <a:r>
              <a:rPr sz="819" b="0" i="0">
                <a:solidFill>
                  <a:srgbClr val="9E9EB0"/>
                </a:solidFill>
                <a:latin typeface="Arial"/>
              </a:rPr>
              <a:t>On Bangalore Route 335E, four stops account for ~80% of passenger volume: Majestic (₹25), Koramangala (₹10), Jayanagar (₹15), and K.R. Market (₹25).
• Giving all 25 route stops identical size creates visual noise and slows decision-making.
• The Pareto Grid features large ~80px cards for top-4 stops in 2 columns, 4 compact cards for secondary stops, and an 'All Stops' button as an escape valve for rare destinations.</a:t>
            </a:r>
          </a:p>
        </p:txBody>
      </p:sp>
      <p:sp>
        <p:nvSpPr>
          <p:cNvPr id="25" name="Rectangle 24"/>
          <p:cNvSpPr/>
          <p:nvPr/>
        </p:nvSpPr>
        <p:spPr>
          <a:xfrm>
            <a:off x="6117336" y="1042416"/>
            <a:ext cx="2478024" cy="5230368"/>
          </a:xfrm>
          <a:prstGeom prst="rect">
            <a:avLst/>
          </a:prstGeom>
          <a:solidFill>
            <a:srgbClr val="181832"/>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01_main_grid.png"/>
          <p:cNvPicPr>
            <a:picLocks noChangeAspect="1"/>
          </p:cNvPicPr>
          <p:nvPr/>
        </p:nvPicPr>
        <p:blipFill>
          <a:blip r:embed="rId2"/>
          <a:stretch>
            <a:fillRect/>
          </a:stretch>
        </p:blipFill>
        <p:spPr>
          <a:xfrm>
            <a:off x="6172200" y="1097280"/>
            <a:ext cx="2368296" cy="5120640"/>
          </a:xfrm>
          <a:prstGeom prst="rect">
            <a:avLst/>
          </a:prstGeom>
        </p:spPr>
      </p:pic>
      <p:sp>
        <p:nvSpPr>
          <p:cNvPr id="27" name="TextBox 26"/>
          <p:cNvSpPr txBox="1"/>
          <p:nvPr/>
        </p:nvSpPr>
        <p:spPr>
          <a:xfrm>
            <a:off x="8778240" y="1078992"/>
            <a:ext cx="2819095" cy="228600"/>
          </a:xfrm>
          <a:prstGeom prst="rect">
            <a:avLst/>
          </a:prstGeom>
          <a:noFill/>
        </p:spPr>
        <p:txBody>
          <a:bodyPr wrap="square">
            <a:spAutoFit/>
          </a:bodyPr>
          <a:lstStyle/>
          <a:p>
            <a:pPr algn="l"/>
            <a:r>
              <a:rPr sz="950" b="1" i="0">
                <a:solidFill>
                  <a:srgbClr val="448AFF"/>
                </a:solidFill>
                <a:latin typeface="Arial"/>
              </a:rPr>
              <a:t>SCREEN ANNOTATIONS</a:t>
            </a:r>
          </a:p>
        </p:txBody>
      </p:sp>
      <p:sp>
        <p:nvSpPr>
          <p:cNvPr id="28" name="Rectangle 27"/>
          <p:cNvSpPr/>
          <p:nvPr/>
        </p:nvSpPr>
        <p:spPr>
          <a:xfrm>
            <a:off x="8778240" y="1371600"/>
            <a:ext cx="2819095" cy="877824"/>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869680" y="1481328"/>
            <a:ext cx="292608" cy="292608"/>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69680" y="1499616"/>
            <a:ext cx="292608" cy="256032"/>
          </a:xfrm>
          <a:prstGeom prst="rect">
            <a:avLst/>
          </a:prstGeom>
          <a:noFill/>
        </p:spPr>
        <p:txBody>
          <a:bodyPr wrap="square">
            <a:spAutoFit/>
          </a:bodyPr>
          <a:lstStyle/>
          <a:p>
            <a:pPr algn="ctr"/>
            <a:r>
              <a:rPr sz="1100" b="1" i="0">
                <a:solidFill>
                  <a:srgbClr val="448AFF"/>
                </a:solidFill>
                <a:latin typeface="Arial"/>
              </a:rPr>
              <a:t>①</a:t>
            </a:r>
          </a:p>
        </p:txBody>
      </p:sp>
      <p:sp>
        <p:nvSpPr>
          <p:cNvPr id="31" name="TextBox 30"/>
          <p:cNvSpPr txBox="1"/>
          <p:nvPr/>
        </p:nvSpPr>
        <p:spPr>
          <a:xfrm>
            <a:off x="9217152" y="1481328"/>
            <a:ext cx="2316175" cy="228600"/>
          </a:xfrm>
          <a:prstGeom prst="rect">
            <a:avLst/>
          </a:prstGeom>
          <a:noFill/>
        </p:spPr>
        <p:txBody>
          <a:bodyPr wrap="square">
            <a:spAutoFit/>
          </a:bodyPr>
          <a:lstStyle/>
          <a:p>
            <a:pPr algn="l"/>
            <a:r>
              <a:rPr sz="880" b="1" i="0">
                <a:solidFill>
                  <a:srgbClr val="FFFFFF"/>
                </a:solidFill>
                <a:latin typeface="Arial"/>
              </a:rPr>
              <a:t>Route Badge (335E)</a:t>
            </a:r>
          </a:p>
        </p:txBody>
      </p:sp>
      <p:sp>
        <p:nvSpPr>
          <p:cNvPr id="32" name="TextBox 31"/>
          <p:cNvSpPr txBox="1"/>
          <p:nvPr/>
        </p:nvSpPr>
        <p:spPr>
          <a:xfrm>
            <a:off x="9217152" y="1719072"/>
            <a:ext cx="2316175" cy="475488"/>
          </a:xfrm>
          <a:prstGeom prst="rect">
            <a:avLst/>
          </a:prstGeom>
          <a:noFill/>
        </p:spPr>
        <p:txBody>
          <a:bodyPr wrap="square">
            <a:spAutoFit/>
          </a:bodyPr>
          <a:lstStyle/>
          <a:p>
            <a:pPr algn="l"/>
            <a:r>
              <a:rPr sz="780" b="0" i="0">
                <a:solidFill>
                  <a:srgbClr val="9E9EB0"/>
                </a:solidFill>
                <a:latin typeface="Arial"/>
              </a:rPr>
              <a:t>High-contrast blue badge confirms active route assignment instantly at depot start.</a:t>
            </a:r>
          </a:p>
        </p:txBody>
      </p:sp>
      <p:sp>
        <p:nvSpPr>
          <p:cNvPr id="33" name="Rectangle 32"/>
          <p:cNvSpPr/>
          <p:nvPr/>
        </p:nvSpPr>
        <p:spPr>
          <a:xfrm>
            <a:off x="8778240" y="2322576"/>
            <a:ext cx="2819095" cy="877824"/>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869680" y="2432304"/>
            <a:ext cx="292608" cy="292608"/>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69680" y="2450592"/>
            <a:ext cx="292608" cy="256032"/>
          </a:xfrm>
          <a:prstGeom prst="rect">
            <a:avLst/>
          </a:prstGeom>
          <a:noFill/>
        </p:spPr>
        <p:txBody>
          <a:bodyPr wrap="square">
            <a:spAutoFit/>
          </a:bodyPr>
          <a:lstStyle/>
          <a:p>
            <a:pPr algn="ctr"/>
            <a:r>
              <a:rPr sz="1100" b="1" i="0">
                <a:solidFill>
                  <a:srgbClr val="448AFF"/>
                </a:solidFill>
                <a:latin typeface="Arial"/>
              </a:rPr>
              <a:t>②</a:t>
            </a:r>
          </a:p>
        </p:txBody>
      </p:sp>
      <p:sp>
        <p:nvSpPr>
          <p:cNvPr id="36" name="TextBox 35"/>
          <p:cNvSpPr txBox="1"/>
          <p:nvPr/>
        </p:nvSpPr>
        <p:spPr>
          <a:xfrm>
            <a:off x="9217152" y="2432304"/>
            <a:ext cx="2316175" cy="228600"/>
          </a:xfrm>
          <a:prstGeom prst="rect">
            <a:avLst/>
          </a:prstGeom>
          <a:noFill/>
        </p:spPr>
        <p:txBody>
          <a:bodyPr wrap="square">
            <a:spAutoFit/>
          </a:bodyPr>
          <a:lstStyle/>
          <a:p>
            <a:pPr algn="l"/>
            <a:r>
              <a:rPr sz="880" b="1" i="0">
                <a:solidFill>
                  <a:srgbClr val="FFFFFF"/>
                </a:solidFill>
                <a:latin typeface="Arial"/>
              </a:rPr>
              <a:t>Live GPS Stop Indicator</a:t>
            </a:r>
          </a:p>
        </p:txBody>
      </p:sp>
      <p:sp>
        <p:nvSpPr>
          <p:cNvPr id="37" name="TextBox 36"/>
          <p:cNvSpPr txBox="1"/>
          <p:nvPr/>
        </p:nvSpPr>
        <p:spPr>
          <a:xfrm>
            <a:off x="9217152" y="2670048"/>
            <a:ext cx="2316175" cy="475488"/>
          </a:xfrm>
          <a:prstGeom prst="rect">
            <a:avLst/>
          </a:prstGeom>
          <a:noFill/>
        </p:spPr>
        <p:txBody>
          <a:bodyPr wrap="square">
            <a:spAutoFit/>
          </a:bodyPr>
          <a:lstStyle/>
          <a:p>
            <a:pPr algn="l"/>
            <a:r>
              <a:rPr sz="780" b="0" i="0">
                <a:solidFill>
                  <a:srgbClr val="9E9EB0"/>
                </a:solidFill>
                <a:latin typeface="Arial"/>
              </a:rPr>
              <a:t>Animated pulse dot &amp; Fare Stage 4 indicator anchor dynamic fare calculations.</a:t>
            </a:r>
          </a:p>
        </p:txBody>
      </p:sp>
      <p:sp>
        <p:nvSpPr>
          <p:cNvPr id="38" name="Rectangle 37"/>
          <p:cNvSpPr/>
          <p:nvPr/>
        </p:nvSpPr>
        <p:spPr>
          <a:xfrm>
            <a:off x="8778240" y="3273552"/>
            <a:ext cx="2819095" cy="877824"/>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869680" y="3383280"/>
            <a:ext cx="292608" cy="292608"/>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0" y="3401568"/>
            <a:ext cx="292608" cy="256032"/>
          </a:xfrm>
          <a:prstGeom prst="rect">
            <a:avLst/>
          </a:prstGeom>
          <a:noFill/>
        </p:spPr>
        <p:txBody>
          <a:bodyPr wrap="square">
            <a:spAutoFit/>
          </a:bodyPr>
          <a:lstStyle/>
          <a:p>
            <a:pPr algn="ctr"/>
            <a:r>
              <a:rPr sz="1100" b="1" i="0">
                <a:solidFill>
                  <a:srgbClr val="448AFF"/>
                </a:solidFill>
                <a:latin typeface="Arial"/>
              </a:rPr>
              <a:t>③</a:t>
            </a:r>
          </a:p>
        </p:txBody>
      </p:sp>
      <p:sp>
        <p:nvSpPr>
          <p:cNvPr id="41" name="TextBox 40"/>
          <p:cNvSpPr txBox="1"/>
          <p:nvPr/>
        </p:nvSpPr>
        <p:spPr>
          <a:xfrm>
            <a:off x="9217152" y="3383280"/>
            <a:ext cx="2316175" cy="228600"/>
          </a:xfrm>
          <a:prstGeom prst="rect">
            <a:avLst/>
          </a:prstGeom>
          <a:noFill/>
        </p:spPr>
        <p:txBody>
          <a:bodyPr wrap="square">
            <a:spAutoFit/>
          </a:bodyPr>
          <a:lstStyle/>
          <a:p>
            <a:pPr algn="l"/>
            <a:r>
              <a:rPr sz="880" b="1" i="0">
                <a:solidFill>
                  <a:srgbClr val="FFFFFF"/>
                </a:solidFill>
                <a:latin typeface="Arial"/>
              </a:rPr>
              <a:t>Top-4 Destination Cards</a:t>
            </a:r>
          </a:p>
        </p:txBody>
      </p:sp>
      <p:sp>
        <p:nvSpPr>
          <p:cNvPr id="42" name="TextBox 41"/>
          <p:cNvSpPr txBox="1"/>
          <p:nvPr/>
        </p:nvSpPr>
        <p:spPr>
          <a:xfrm>
            <a:off x="9217152" y="3621024"/>
            <a:ext cx="2316175" cy="475488"/>
          </a:xfrm>
          <a:prstGeom prst="rect">
            <a:avLst/>
          </a:prstGeom>
          <a:noFill/>
        </p:spPr>
        <p:txBody>
          <a:bodyPr wrap="square">
            <a:spAutoFit/>
          </a:bodyPr>
          <a:lstStyle/>
          <a:p>
            <a:pPr algn="l"/>
            <a:r>
              <a:rPr sz="780" b="0" i="0">
                <a:solidFill>
                  <a:srgbClr val="9E9EB0"/>
                </a:solidFill>
                <a:latin typeface="Arial"/>
              </a:rPr>
              <a:t>Generous ~80px targets. Spatial positioning develops reflex muscle memory within 1 shift.</a:t>
            </a:r>
          </a:p>
        </p:txBody>
      </p:sp>
      <p:sp>
        <p:nvSpPr>
          <p:cNvPr id="43" name="Rectangle 42"/>
          <p:cNvSpPr/>
          <p:nvPr/>
        </p:nvSpPr>
        <p:spPr>
          <a:xfrm>
            <a:off x="8778240" y="4224528"/>
            <a:ext cx="2819095" cy="877824"/>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869680" y="4334256"/>
            <a:ext cx="292608" cy="292608"/>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69680" y="4352544"/>
            <a:ext cx="292608" cy="256032"/>
          </a:xfrm>
          <a:prstGeom prst="rect">
            <a:avLst/>
          </a:prstGeom>
          <a:noFill/>
        </p:spPr>
        <p:txBody>
          <a:bodyPr wrap="square">
            <a:spAutoFit/>
          </a:bodyPr>
          <a:lstStyle/>
          <a:p>
            <a:pPr algn="ctr"/>
            <a:r>
              <a:rPr sz="1100" b="1" i="0">
                <a:solidFill>
                  <a:srgbClr val="448AFF"/>
                </a:solidFill>
                <a:latin typeface="Arial"/>
              </a:rPr>
              <a:t>④</a:t>
            </a:r>
          </a:p>
        </p:txBody>
      </p:sp>
      <p:sp>
        <p:nvSpPr>
          <p:cNvPr id="46" name="TextBox 45"/>
          <p:cNvSpPr txBox="1"/>
          <p:nvPr/>
        </p:nvSpPr>
        <p:spPr>
          <a:xfrm>
            <a:off x="9217152" y="4334256"/>
            <a:ext cx="2316175" cy="228600"/>
          </a:xfrm>
          <a:prstGeom prst="rect">
            <a:avLst/>
          </a:prstGeom>
          <a:noFill/>
        </p:spPr>
        <p:txBody>
          <a:bodyPr wrap="square">
            <a:spAutoFit/>
          </a:bodyPr>
          <a:lstStyle/>
          <a:p>
            <a:pPr algn="l"/>
            <a:r>
              <a:rPr sz="880" b="1" i="0">
                <a:solidFill>
                  <a:srgbClr val="FFFFFF"/>
                </a:solidFill>
                <a:latin typeface="Arial"/>
              </a:rPr>
              <a:t>Secondary Destination Strip</a:t>
            </a:r>
          </a:p>
        </p:txBody>
      </p:sp>
      <p:sp>
        <p:nvSpPr>
          <p:cNvPr id="47" name="TextBox 46"/>
          <p:cNvSpPr txBox="1"/>
          <p:nvPr/>
        </p:nvSpPr>
        <p:spPr>
          <a:xfrm>
            <a:off x="9217152" y="4572000"/>
            <a:ext cx="2316175" cy="475488"/>
          </a:xfrm>
          <a:prstGeom prst="rect">
            <a:avLst/>
          </a:prstGeom>
          <a:noFill/>
        </p:spPr>
        <p:txBody>
          <a:bodyPr wrap="square">
            <a:spAutoFit/>
          </a:bodyPr>
          <a:lstStyle/>
          <a:p>
            <a:pPr algn="l"/>
            <a:r>
              <a:rPr sz="780" b="0" i="0">
                <a:solidFill>
                  <a:srgbClr val="9E9EB0"/>
                </a:solidFill>
                <a:latin typeface="Arial"/>
              </a:rPr>
              <a:t>4 compact cards for intermediate stops (~20% route volume) remain within thumb reach.</a:t>
            </a:r>
          </a:p>
        </p:txBody>
      </p:sp>
      <p:sp>
        <p:nvSpPr>
          <p:cNvPr id="48" name="Rectangle 47"/>
          <p:cNvSpPr/>
          <p:nvPr/>
        </p:nvSpPr>
        <p:spPr>
          <a:xfrm>
            <a:off x="8778240" y="5175504"/>
            <a:ext cx="2819095" cy="877824"/>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869680" y="5285232"/>
            <a:ext cx="292608" cy="292608"/>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869680" y="5303520"/>
            <a:ext cx="292608" cy="256032"/>
          </a:xfrm>
          <a:prstGeom prst="rect">
            <a:avLst/>
          </a:prstGeom>
          <a:noFill/>
        </p:spPr>
        <p:txBody>
          <a:bodyPr wrap="square">
            <a:spAutoFit/>
          </a:bodyPr>
          <a:lstStyle/>
          <a:p>
            <a:pPr algn="ctr"/>
            <a:r>
              <a:rPr sz="1100" b="1" i="0">
                <a:solidFill>
                  <a:srgbClr val="448AFF"/>
                </a:solidFill>
                <a:latin typeface="Arial"/>
              </a:rPr>
              <a:t>⑤</a:t>
            </a:r>
          </a:p>
        </p:txBody>
      </p:sp>
      <p:sp>
        <p:nvSpPr>
          <p:cNvPr id="51" name="TextBox 50"/>
          <p:cNvSpPr txBox="1"/>
          <p:nvPr/>
        </p:nvSpPr>
        <p:spPr>
          <a:xfrm>
            <a:off x="9217152" y="5285232"/>
            <a:ext cx="2316175" cy="228600"/>
          </a:xfrm>
          <a:prstGeom prst="rect">
            <a:avLst/>
          </a:prstGeom>
          <a:noFill/>
        </p:spPr>
        <p:txBody>
          <a:bodyPr wrap="square">
            <a:spAutoFit/>
          </a:bodyPr>
          <a:lstStyle/>
          <a:p>
            <a:pPr algn="l"/>
            <a:r>
              <a:rPr sz="880" b="1" i="0">
                <a:solidFill>
                  <a:srgbClr val="FFFFFF"/>
                </a:solidFill>
                <a:latin typeface="Arial"/>
              </a:rPr>
              <a:t>All Stops Escape Valve</a:t>
            </a:r>
          </a:p>
        </p:txBody>
      </p:sp>
      <p:sp>
        <p:nvSpPr>
          <p:cNvPr id="52" name="TextBox 51"/>
          <p:cNvSpPr txBox="1"/>
          <p:nvPr/>
        </p:nvSpPr>
        <p:spPr>
          <a:xfrm>
            <a:off x="9217152" y="5522976"/>
            <a:ext cx="2316175" cy="475488"/>
          </a:xfrm>
          <a:prstGeom prst="rect">
            <a:avLst/>
          </a:prstGeom>
          <a:noFill/>
        </p:spPr>
        <p:txBody>
          <a:bodyPr wrap="square">
            <a:spAutoFit/>
          </a:bodyPr>
          <a:lstStyle/>
          <a:p>
            <a:pPr algn="l"/>
            <a:r>
              <a:rPr sz="780" b="0" i="0">
                <a:solidFill>
                  <a:srgbClr val="9E9EB0"/>
                </a:solidFill>
                <a:latin typeface="Arial"/>
              </a:rPr>
              <a:t>Bottom drawer accesses comprehensive stop search without cluttering the primary grid.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594360" y="365760"/>
            <a:ext cx="11002975" cy="502920"/>
          </a:xfrm>
          <a:prstGeom prst="rect">
            <a:avLst/>
          </a:prstGeom>
          <a:noFill/>
        </p:spPr>
        <p:txBody>
          <a:bodyPr wrap="square">
            <a:spAutoFit/>
          </a:bodyPr>
          <a:lstStyle/>
          <a:p>
            <a:pPr algn="l"/>
            <a:r>
              <a:rPr sz="2300" b="1" i="0">
                <a:solidFill>
                  <a:srgbClr val="FFFFFF"/>
                </a:solidFill>
                <a:latin typeface="Arial"/>
              </a:rPr>
              <a:t>Three taps. One ticket. 2.1 seconds.</a:t>
            </a:r>
          </a:p>
        </p:txBody>
      </p:sp>
      <p:sp>
        <p:nvSpPr>
          <p:cNvPr id="3" name="Rectangle 2"/>
          <p:cNvSpPr/>
          <p:nvPr/>
        </p:nvSpPr>
        <p:spPr>
          <a:xfrm>
            <a:off x="594360" y="896112"/>
            <a:ext cx="2011680" cy="3810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865815" y="6473952"/>
            <a:ext cx="731520" cy="274320"/>
          </a:xfrm>
          <a:prstGeom prst="rect">
            <a:avLst/>
          </a:prstGeom>
          <a:noFill/>
        </p:spPr>
        <p:txBody>
          <a:bodyPr wrap="square">
            <a:spAutoFit/>
          </a:bodyPr>
          <a:lstStyle/>
          <a:p>
            <a:pPr algn="r"/>
            <a:r>
              <a:rPr sz="800" b="0" i="0">
                <a:solidFill>
                  <a:srgbClr val="9E9EB0"/>
                </a:solidFill>
                <a:latin typeface="Arial"/>
              </a:rPr>
              <a:t>6 / 10</a:t>
            </a:r>
          </a:p>
        </p:txBody>
      </p:sp>
      <p:sp>
        <p:nvSpPr>
          <p:cNvPr id="5" name="Rectangle 4"/>
          <p:cNvSpPr/>
          <p:nvPr/>
        </p:nvSpPr>
        <p:spPr>
          <a:xfrm>
            <a:off x="594360" y="1078992"/>
            <a:ext cx="3291840" cy="1234440"/>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078992"/>
            <a:ext cx="3291840" cy="31750"/>
          </a:xfrm>
          <a:prstGeom prst="rect">
            <a:avLst/>
          </a:prstGeom>
          <a:solidFill>
            <a:srgbClr val="448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04088" y="1188720"/>
            <a:ext cx="777240" cy="256032"/>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207008"/>
            <a:ext cx="777240" cy="219456"/>
          </a:xfrm>
          <a:prstGeom prst="rect">
            <a:avLst/>
          </a:prstGeom>
          <a:noFill/>
        </p:spPr>
        <p:txBody>
          <a:bodyPr wrap="square">
            <a:spAutoFit/>
          </a:bodyPr>
          <a:lstStyle/>
          <a:p>
            <a:pPr algn="ctr"/>
            <a:r>
              <a:rPr sz="850" b="1" i="0">
                <a:solidFill>
                  <a:srgbClr val="FFB300"/>
                </a:solidFill>
                <a:latin typeface="Arial"/>
              </a:rPr>
              <a:t>TAP 1</a:t>
            </a:r>
          </a:p>
        </p:txBody>
      </p:sp>
      <p:sp>
        <p:nvSpPr>
          <p:cNvPr id="9" name="TextBox 8"/>
          <p:cNvSpPr txBox="1"/>
          <p:nvPr/>
        </p:nvSpPr>
        <p:spPr>
          <a:xfrm>
            <a:off x="1554480" y="1207008"/>
            <a:ext cx="1280160" cy="219456"/>
          </a:xfrm>
          <a:prstGeom prst="rect">
            <a:avLst/>
          </a:prstGeom>
          <a:noFill/>
        </p:spPr>
        <p:txBody>
          <a:bodyPr wrap="square">
            <a:spAutoFit/>
          </a:bodyPr>
          <a:lstStyle/>
          <a:p>
            <a:pPr algn="l"/>
            <a:r>
              <a:rPr sz="850" b="1" i="0">
                <a:solidFill>
                  <a:srgbClr val="00E676"/>
                </a:solidFill>
                <a:latin typeface="Arial"/>
              </a:rPr>
              <a:t>0.0s → 0.4s</a:t>
            </a:r>
          </a:p>
        </p:txBody>
      </p:sp>
      <p:sp>
        <p:nvSpPr>
          <p:cNvPr id="10" name="TextBox 9"/>
          <p:cNvSpPr txBox="1"/>
          <p:nvPr/>
        </p:nvSpPr>
        <p:spPr>
          <a:xfrm>
            <a:off x="704088" y="1517904"/>
            <a:ext cx="3072384" cy="256032"/>
          </a:xfrm>
          <a:prstGeom prst="rect">
            <a:avLst/>
          </a:prstGeom>
          <a:noFill/>
        </p:spPr>
        <p:txBody>
          <a:bodyPr wrap="square">
            <a:spAutoFit/>
          </a:bodyPr>
          <a:lstStyle/>
          <a:p>
            <a:pPr algn="l"/>
            <a:r>
              <a:rPr sz="1000" b="1" i="0">
                <a:solidFill>
                  <a:srgbClr val="FFFFFF"/>
                </a:solidFill>
                <a:latin typeface="Arial"/>
              </a:rPr>
              <a:t>Select Destination</a:t>
            </a:r>
          </a:p>
        </p:txBody>
      </p:sp>
      <p:sp>
        <p:nvSpPr>
          <p:cNvPr id="11" name="TextBox 10"/>
          <p:cNvSpPr txBox="1"/>
          <p:nvPr/>
        </p:nvSpPr>
        <p:spPr>
          <a:xfrm>
            <a:off x="704088" y="1792224"/>
            <a:ext cx="3072384" cy="475488"/>
          </a:xfrm>
          <a:prstGeom prst="rect">
            <a:avLst/>
          </a:prstGeom>
          <a:noFill/>
        </p:spPr>
        <p:txBody>
          <a:bodyPr wrap="square">
            <a:spAutoFit/>
          </a:bodyPr>
          <a:lstStyle/>
          <a:p>
            <a:pPr algn="l"/>
            <a:r>
              <a:rPr sz="800" b="0" i="0">
                <a:solidFill>
                  <a:srgbClr val="9E9EB0"/>
                </a:solidFill>
                <a:latin typeface="Arial"/>
              </a:rPr>
              <a:t>Conductor taps pinned 'Majestic' card (₹25). Immediate transition into config view.</a:t>
            </a:r>
          </a:p>
        </p:txBody>
      </p:sp>
      <p:sp>
        <p:nvSpPr>
          <p:cNvPr id="12" name="TextBox 11"/>
          <p:cNvSpPr txBox="1"/>
          <p:nvPr/>
        </p:nvSpPr>
        <p:spPr>
          <a:xfrm>
            <a:off x="3995928" y="1490472"/>
            <a:ext cx="338328" cy="365760"/>
          </a:xfrm>
          <a:prstGeom prst="rect">
            <a:avLst/>
          </a:prstGeom>
          <a:noFill/>
        </p:spPr>
        <p:txBody>
          <a:bodyPr wrap="square">
            <a:spAutoFit/>
          </a:bodyPr>
          <a:lstStyle/>
          <a:p>
            <a:pPr algn="ctr"/>
            <a:r>
              <a:rPr sz="1600" b="1" i="0">
                <a:solidFill>
                  <a:srgbClr val="448AFF"/>
                </a:solidFill>
                <a:latin typeface="Arial"/>
              </a:rPr>
              <a:t>➔</a:t>
            </a:r>
          </a:p>
        </p:txBody>
      </p:sp>
      <p:sp>
        <p:nvSpPr>
          <p:cNvPr id="13" name="Rectangle 12"/>
          <p:cNvSpPr/>
          <p:nvPr/>
        </p:nvSpPr>
        <p:spPr>
          <a:xfrm>
            <a:off x="4443984" y="1078992"/>
            <a:ext cx="3291840" cy="1234440"/>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43984" y="1078992"/>
            <a:ext cx="3291840" cy="31750"/>
          </a:xfrm>
          <a:prstGeom prst="rect">
            <a:avLst/>
          </a:prstGeom>
          <a:solidFill>
            <a:srgbClr val="448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53712" y="1188720"/>
            <a:ext cx="777240" cy="256032"/>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53712" y="1207008"/>
            <a:ext cx="777240" cy="219456"/>
          </a:xfrm>
          <a:prstGeom prst="rect">
            <a:avLst/>
          </a:prstGeom>
          <a:noFill/>
        </p:spPr>
        <p:txBody>
          <a:bodyPr wrap="square">
            <a:spAutoFit/>
          </a:bodyPr>
          <a:lstStyle/>
          <a:p>
            <a:pPr algn="ctr"/>
            <a:r>
              <a:rPr sz="850" b="1" i="0">
                <a:solidFill>
                  <a:srgbClr val="FFB300"/>
                </a:solidFill>
                <a:latin typeface="Arial"/>
              </a:rPr>
              <a:t>TAP 2</a:t>
            </a:r>
          </a:p>
        </p:txBody>
      </p:sp>
      <p:sp>
        <p:nvSpPr>
          <p:cNvPr id="17" name="TextBox 16"/>
          <p:cNvSpPr txBox="1"/>
          <p:nvPr/>
        </p:nvSpPr>
        <p:spPr>
          <a:xfrm>
            <a:off x="5404104" y="1207008"/>
            <a:ext cx="1280160" cy="219456"/>
          </a:xfrm>
          <a:prstGeom prst="rect">
            <a:avLst/>
          </a:prstGeom>
          <a:noFill/>
        </p:spPr>
        <p:txBody>
          <a:bodyPr wrap="square">
            <a:spAutoFit/>
          </a:bodyPr>
          <a:lstStyle/>
          <a:p>
            <a:pPr algn="l"/>
            <a:r>
              <a:rPr sz="850" b="1" i="0">
                <a:solidFill>
                  <a:srgbClr val="00E676"/>
                </a:solidFill>
                <a:latin typeface="Arial"/>
              </a:rPr>
              <a:t>0.4s → 1.0s</a:t>
            </a:r>
          </a:p>
        </p:txBody>
      </p:sp>
      <p:sp>
        <p:nvSpPr>
          <p:cNvPr id="18" name="TextBox 17"/>
          <p:cNvSpPr txBox="1"/>
          <p:nvPr/>
        </p:nvSpPr>
        <p:spPr>
          <a:xfrm>
            <a:off x="4553712" y="1517904"/>
            <a:ext cx="3072384" cy="256032"/>
          </a:xfrm>
          <a:prstGeom prst="rect">
            <a:avLst/>
          </a:prstGeom>
          <a:noFill/>
        </p:spPr>
        <p:txBody>
          <a:bodyPr wrap="square">
            <a:spAutoFit/>
          </a:bodyPr>
          <a:lstStyle/>
          <a:p>
            <a:pPr algn="l"/>
            <a:r>
              <a:rPr sz="1000" b="1" i="0">
                <a:solidFill>
                  <a:srgbClr val="FFFFFF"/>
                </a:solidFill>
                <a:latin typeface="Arial"/>
              </a:rPr>
              <a:t>Select Passengers</a:t>
            </a:r>
          </a:p>
        </p:txBody>
      </p:sp>
      <p:sp>
        <p:nvSpPr>
          <p:cNvPr id="19" name="TextBox 18"/>
          <p:cNvSpPr txBox="1"/>
          <p:nvPr/>
        </p:nvSpPr>
        <p:spPr>
          <a:xfrm>
            <a:off x="4553712" y="1792224"/>
            <a:ext cx="3072384" cy="475488"/>
          </a:xfrm>
          <a:prstGeom prst="rect">
            <a:avLst/>
          </a:prstGeom>
          <a:noFill/>
        </p:spPr>
        <p:txBody>
          <a:bodyPr wrap="square">
            <a:spAutoFit/>
          </a:bodyPr>
          <a:lstStyle/>
          <a:p>
            <a:pPr algn="l"/>
            <a:r>
              <a:rPr sz="800" b="0" i="0">
                <a:solidFill>
                  <a:srgbClr val="9E9EB0"/>
                </a:solidFill>
                <a:latin typeface="Arial"/>
              </a:rPr>
              <a:t>Tap '3' in passenger selector (56px touch target). Fare total updates instantly to ₹75.</a:t>
            </a:r>
          </a:p>
        </p:txBody>
      </p:sp>
      <p:sp>
        <p:nvSpPr>
          <p:cNvPr id="20" name="TextBox 19"/>
          <p:cNvSpPr txBox="1"/>
          <p:nvPr/>
        </p:nvSpPr>
        <p:spPr>
          <a:xfrm>
            <a:off x="7845552" y="1490472"/>
            <a:ext cx="338328" cy="365760"/>
          </a:xfrm>
          <a:prstGeom prst="rect">
            <a:avLst/>
          </a:prstGeom>
          <a:noFill/>
        </p:spPr>
        <p:txBody>
          <a:bodyPr wrap="square">
            <a:spAutoFit/>
          </a:bodyPr>
          <a:lstStyle/>
          <a:p>
            <a:pPr algn="ctr"/>
            <a:r>
              <a:rPr sz="1600" b="1" i="0">
                <a:solidFill>
                  <a:srgbClr val="448AFF"/>
                </a:solidFill>
                <a:latin typeface="Arial"/>
              </a:rPr>
              <a:t>➔</a:t>
            </a:r>
          </a:p>
        </p:txBody>
      </p:sp>
      <p:sp>
        <p:nvSpPr>
          <p:cNvPr id="21" name="Rectangle 20"/>
          <p:cNvSpPr/>
          <p:nvPr/>
        </p:nvSpPr>
        <p:spPr>
          <a:xfrm>
            <a:off x="8293608" y="1078992"/>
            <a:ext cx="3291840" cy="1234440"/>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93608" y="1078992"/>
            <a:ext cx="3291840" cy="3175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403336" y="1188720"/>
            <a:ext cx="777240" cy="256032"/>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03336" y="1207008"/>
            <a:ext cx="777240" cy="219456"/>
          </a:xfrm>
          <a:prstGeom prst="rect">
            <a:avLst/>
          </a:prstGeom>
          <a:noFill/>
        </p:spPr>
        <p:txBody>
          <a:bodyPr wrap="square">
            <a:spAutoFit/>
          </a:bodyPr>
          <a:lstStyle/>
          <a:p>
            <a:pPr algn="ctr"/>
            <a:r>
              <a:rPr sz="850" b="1" i="0">
                <a:solidFill>
                  <a:srgbClr val="FFB300"/>
                </a:solidFill>
                <a:latin typeface="Arial"/>
              </a:rPr>
              <a:t>TAP 3</a:t>
            </a:r>
          </a:p>
        </p:txBody>
      </p:sp>
      <p:sp>
        <p:nvSpPr>
          <p:cNvPr id="25" name="TextBox 24"/>
          <p:cNvSpPr txBox="1"/>
          <p:nvPr/>
        </p:nvSpPr>
        <p:spPr>
          <a:xfrm>
            <a:off x="9253728" y="1207008"/>
            <a:ext cx="1280160" cy="219456"/>
          </a:xfrm>
          <a:prstGeom prst="rect">
            <a:avLst/>
          </a:prstGeom>
          <a:noFill/>
        </p:spPr>
        <p:txBody>
          <a:bodyPr wrap="square">
            <a:spAutoFit/>
          </a:bodyPr>
          <a:lstStyle/>
          <a:p>
            <a:pPr algn="l"/>
            <a:r>
              <a:rPr sz="850" b="1" i="0">
                <a:solidFill>
                  <a:srgbClr val="00E676"/>
                </a:solidFill>
                <a:latin typeface="Arial"/>
              </a:rPr>
              <a:t>1.0s → 2.1s</a:t>
            </a:r>
          </a:p>
        </p:txBody>
      </p:sp>
      <p:sp>
        <p:nvSpPr>
          <p:cNvPr id="26" name="TextBox 25"/>
          <p:cNvSpPr txBox="1"/>
          <p:nvPr/>
        </p:nvSpPr>
        <p:spPr>
          <a:xfrm>
            <a:off x="8403336" y="1517904"/>
            <a:ext cx="3072384" cy="256032"/>
          </a:xfrm>
          <a:prstGeom prst="rect">
            <a:avLst/>
          </a:prstGeom>
          <a:noFill/>
        </p:spPr>
        <p:txBody>
          <a:bodyPr wrap="square">
            <a:spAutoFit/>
          </a:bodyPr>
          <a:lstStyle/>
          <a:p>
            <a:pPr algn="l"/>
            <a:r>
              <a:rPr sz="1000" b="1" i="0">
                <a:solidFill>
                  <a:srgbClr val="FFFFFF"/>
                </a:solidFill>
                <a:latin typeface="Arial"/>
              </a:rPr>
              <a:t>Issue Ticket</a:t>
            </a:r>
          </a:p>
        </p:txBody>
      </p:sp>
      <p:sp>
        <p:nvSpPr>
          <p:cNvPr id="27" name="TextBox 26"/>
          <p:cNvSpPr txBox="1"/>
          <p:nvPr/>
        </p:nvSpPr>
        <p:spPr>
          <a:xfrm>
            <a:off x="8403336" y="1792224"/>
            <a:ext cx="3072384" cy="475488"/>
          </a:xfrm>
          <a:prstGeom prst="rect">
            <a:avLst/>
          </a:prstGeom>
          <a:noFill/>
        </p:spPr>
        <p:txBody>
          <a:bodyPr wrap="square">
            <a:spAutoFit/>
          </a:bodyPr>
          <a:lstStyle/>
          <a:p>
            <a:pPr algn="l"/>
            <a:r>
              <a:rPr sz="800" b="0" i="0">
                <a:solidFill>
                  <a:srgbClr val="9E9EB0"/>
                </a:solidFill>
                <a:latin typeface="Arial"/>
              </a:rPr>
              <a:t>Tap full-width 64px green CTA. Ticket logged, haptic pulse triggered, undo window opens.</a:t>
            </a:r>
          </a:p>
        </p:txBody>
      </p:sp>
      <p:sp>
        <p:nvSpPr>
          <p:cNvPr id="28" name="Rectangle 27"/>
          <p:cNvSpPr/>
          <p:nvPr/>
        </p:nvSpPr>
        <p:spPr>
          <a:xfrm>
            <a:off x="594360" y="2423160"/>
            <a:ext cx="11002975" cy="384048"/>
          </a:xfrm>
          <a:prstGeom prst="rect">
            <a:avLst/>
          </a:prstGeom>
          <a:solidFill>
            <a:srgbClr val="04180C"/>
          </a:solidFill>
          <a:ln w="9525">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2487168"/>
            <a:ext cx="10637215" cy="274320"/>
          </a:xfrm>
          <a:prstGeom prst="rect">
            <a:avLst/>
          </a:prstGeom>
          <a:noFill/>
        </p:spPr>
        <p:txBody>
          <a:bodyPr wrap="square">
            <a:spAutoFit/>
          </a:bodyPr>
          <a:lstStyle/>
          <a:p>
            <a:pPr algn="ctr"/>
            <a:r>
              <a:rPr sz="950" b="1" i="0">
                <a:solidFill>
                  <a:srgbClr val="00E676"/>
                </a:solidFill>
                <a:latin typeface="Arial"/>
              </a:rPr>
              <a:t>⚡ MEASURED PROTOTYPE PERFORMANCE: 2.1 SECONDS AVERAGE • 47% IMPROVEMENT OVER 4.0s SLA BENCHMARK</a:t>
            </a:r>
          </a:p>
        </p:txBody>
      </p:sp>
      <p:sp>
        <p:nvSpPr>
          <p:cNvPr id="30" name="Rectangle 29"/>
          <p:cNvSpPr/>
          <p:nvPr/>
        </p:nvSpPr>
        <p:spPr>
          <a:xfrm>
            <a:off x="548640" y="2880360"/>
            <a:ext cx="1609344" cy="3383280"/>
          </a:xfrm>
          <a:prstGeom prst="rect">
            <a:avLst/>
          </a:prstGeom>
          <a:solidFill>
            <a:srgbClr val="181832"/>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02_ticket_config.png"/>
          <p:cNvPicPr>
            <a:picLocks noChangeAspect="1"/>
          </p:cNvPicPr>
          <p:nvPr/>
        </p:nvPicPr>
        <p:blipFill>
          <a:blip r:embed="rId2"/>
          <a:stretch>
            <a:fillRect/>
          </a:stretch>
        </p:blipFill>
        <p:spPr>
          <a:xfrm>
            <a:off x="594360" y="2926080"/>
            <a:ext cx="1517904" cy="3291840"/>
          </a:xfrm>
          <a:prstGeom prst="rect">
            <a:avLst/>
          </a:prstGeom>
        </p:spPr>
      </p:pic>
      <p:sp>
        <p:nvSpPr>
          <p:cNvPr id="32" name="Rectangle 31"/>
          <p:cNvSpPr/>
          <p:nvPr/>
        </p:nvSpPr>
        <p:spPr>
          <a:xfrm>
            <a:off x="2432304" y="2926080"/>
            <a:ext cx="4491075" cy="987552"/>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523744" y="3017520"/>
            <a:ext cx="292608" cy="292608"/>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523744" y="3035808"/>
            <a:ext cx="292608" cy="256032"/>
          </a:xfrm>
          <a:prstGeom prst="rect">
            <a:avLst/>
          </a:prstGeom>
          <a:noFill/>
        </p:spPr>
        <p:txBody>
          <a:bodyPr wrap="square">
            <a:spAutoFit/>
          </a:bodyPr>
          <a:lstStyle/>
          <a:p>
            <a:pPr algn="ctr"/>
            <a:r>
              <a:rPr sz="1100" b="1" i="0">
                <a:solidFill>
                  <a:srgbClr val="448AFF"/>
                </a:solidFill>
                <a:latin typeface="Arial"/>
              </a:rPr>
              <a:t>①</a:t>
            </a:r>
          </a:p>
        </p:txBody>
      </p:sp>
      <p:sp>
        <p:nvSpPr>
          <p:cNvPr id="35" name="TextBox 34"/>
          <p:cNvSpPr txBox="1"/>
          <p:nvPr/>
        </p:nvSpPr>
        <p:spPr>
          <a:xfrm>
            <a:off x="2871216" y="3017520"/>
            <a:ext cx="3988155" cy="219456"/>
          </a:xfrm>
          <a:prstGeom prst="rect">
            <a:avLst/>
          </a:prstGeom>
          <a:noFill/>
        </p:spPr>
        <p:txBody>
          <a:bodyPr wrap="square">
            <a:spAutoFit/>
          </a:bodyPr>
          <a:lstStyle/>
          <a:p>
            <a:pPr algn="l"/>
            <a:r>
              <a:rPr sz="880" b="1" i="0">
                <a:solidFill>
                  <a:srgbClr val="FFFFFF"/>
                </a:solidFill>
                <a:latin typeface="Arial"/>
              </a:rPr>
              <a:t>'← Change stop' Back Button</a:t>
            </a:r>
          </a:p>
        </p:txBody>
      </p:sp>
      <p:sp>
        <p:nvSpPr>
          <p:cNvPr id="36" name="TextBox 35"/>
          <p:cNvSpPr txBox="1"/>
          <p:nvPr/>
        </p:nvSpPr>
        <p:spPr>
          <a:xfrm>
            <a:off x="2871216" y="3236976"/>
            <a:ext cx="3988155" cy="621792"/>
          </a:xfrm>
          <a:prstGeom prst="rect">
            <a:avLst/>
          </a:prstGeom>
          <a:noFill/>
        </p:spPr>
        <p:txBody>
          <a:bodyPr wrap="square">
            <a:spAutoFit/>
          </a:bodyPr>
          <a:lstStyle/>
          <a:p>
            <a:pPr algn="l"/>
            <a:r>
              <a:rPr sz="780" b="0" i="0">
                <a:solidFill>
                  <a:srgbClr val="9E9EB0"/>
                </a:solidFill>
                <a:latin typeface="Arial"/>
              </a:rPr>
              <a:t>Enables instant fat-finger recovery during road vibration. Conductor corrects destination in 1 tap without modal dialogs.</a:t>
            </a:r>
          </a:p>
        </p:txBody>
      </p:sp>
      <p:sp>
        <p:nvSpPr>
          <p:cNvPr id="37" name="Rectangle 36"/>
          <p:cNvSpPr/>
          <p:nvPr/>
        </p:nvSpPr>
        <p:spPr>
          <a:xfrm>
            <a:off x="7106259" y="2926080"/>
            <a:ext cx="4491075" cy="987552"/>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197699" y="3017520"/>
            <a:ext cx="292608" cy="292608"/>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97699" y="3035808"/>
            <a:ext cx="292608" cy="256032"/>
          </a:xfrm>
          <a:prstGeom prst="rect">
            <a:avLst/>
          </a:prstGeom>
          <a:noFill/>
        </p:spPr>
        <p:txBody>
          <a:bodyPr wrap="square">
            <a:spAutoFit/>
          </a:bodyPr>
          <a:lstStyle/>
          <a:p>
            <a:pPr algn="ctr"/>
            <a:r>
              <a:rPr sz="1100" b="1" i="0">
                <a:solidFill>
                  <a:srgbClr val="448AFF"/>
                </a:solidFill>
                <a:latin typeface="Arial"/>
              </a:rPr>
              <a:t>②</a:t>
            </a:r>
          </a:p>
        </p:txBody>
      </p:sp>
      <p:sp>
        <p:nvSpPr>
          <p:cNvPr id="40" name="TextBox 39"/>
          <p:cNvSpPr txBox="1"/>
          <p:nvPr/>
        </p:nvSpPr>
        <p:spPr>
          <a:xfrm>
            <a:off x="7545171" y="3017520"/>
            <a:ext cx="3988155" cy="219456"/>
          </a:xfrm>
          <a:prstGeom prst="rect">
            <a:avLst/>
          </a:prstGeom>
          <a:noFill/>
        </p:spPr>
        <p:txBody>
          <a:bodyPr wrap="square">
            <a:spAutoFit/>
          </a:bodyPr>
          <a:lstStyle/>
          <a:p>
            <a:pPr algn="l"/>
            <a:r>
              <a:rPr sz="880" b="1" i="0">
                <a:solidFill>
                  <a:srgbClr val="FFFFFF"/>
                </a:solidFill>
                <a:latin typeface="Arial"/>
              </a:rPr>
              <a:t>Destination Name at 28px Bold</a:t>
            </a:r>
          </a:p>
        </p:txBody>
      </p:sp>
      <p:sp>
        <p:nvSpPr>
          <p:cNvPr id="41" name="TextBox 40"/>
          <p:cNvSpPr txBox="1"/>
          <p:nvPr/>
        </p:nvSpPr>
        <p:spPr>
          <a:xfrm>
            <a:off x="7545171" y="3236976"/>
            <a:ext cx="3988155" cy="621792"/>
          </a:xfrm>
          <a:prstGeom prst="rect">
            <a:avLst/>
          </a:prstGeom>
          <a:noFill/>
        </p:spPr>
        <p:txBody>
          <a:bodyPr wrap="square">
            <a:spAutoFit/>
          </a:bodyPr>
          <a:lstStyle/>
          <a:p>
            <a:pPr algn="l"/>
            <a:r>
              <a:rPr sz="780" b="0" i="0">
                <a:solidFill>
                  <a:srgbClr val="9E9EB0"/>
                </a:solidFill>
                <a:latin typeface="Arial"/>
              </a:rPr>
              <a:t>Becomes the most prominent element after tap, allowing visual verification in under 200 milliseconds.</a:t>
            </a:r>
          </a:p>
        </p:txBody>
      </p:sp>
      <p:sp>
        <p:nvSpPr>
          <p:cNvPr id="42" name="Rectangle 41"/>
          <p:cNvSpPr/>
          <p:nvPr/>
        </p:nvSpPr>
        <p:spPr>
          <a:xfrm>
            <a:off x="2432304" y="4050792"/>
            <a:ext cx="4491075" cy="987552"/>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523744" y="4142232"/>
            <a:ext cx="292608" cy="292608"/>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523744" y="4160520"/>
            <a:ext cx="292608" cy="256032"/>
          </a:xfrm>
          <a:prstGeom prst="rect">
            <a:avLst/>
          </a:prstGeom>
          <a:noFill/>
        </p:spPr>
        <p:txBody>
          <a:bodyPr wrap="square">
            <a:spAutoFit/>
          </a:bodyPr>
          <a:lstStyle/>
          <a:p>
            <a:pPr algn="ctr"/>
            <a:r>
              <a:rPr sz="1100" b="1" i="0">
                <a:solidFill>
                  <a:srgbClr val="448AFF"/>
                </a:solidFill>
                <a:latin typeface="Arial"/>
              </a:rPr>
              <a:t>③</a:t>
            </a:r>
          </a:p>
        </p:txBody>
      </p:sp>
      <p:sp>
        <p:nvSpPr>
          <p:cNvPr id="45" name="TextBox 44"/>
          <p:cNvSpPr txBox="1"/>
          <p:nvPr/>
        </p:nvSpPr>
        <p:spPr>
          <a:xfrm>
            <a:off x="2871216" y="4142232"/>
            <a:ext cx="3988155" cy="219456"/>
          </a:xfrm>
          <a:prstGeom prst="rect">
            <a:avLst/>
          </a:prstGeom>
          <a:noFill/>
        </p:spPr>
        <p:txBody>
          <a:bodyPr wrap="square">
            <a:spAutoFit/>
          </a:bodyPr>
          <a:lstStyle/>
          <a:p>
            <a:pPr algn="l"/>
            <a:r>
              <a:rPr sz="880" b="1" i="0">
                <a:solidFill>
                  <a:srgbClr val="FFFFFF"/>
                </a:solidFill>
                <a:latin typeface="Arial"/>
              </a:rPr>
              <a:t>Fare in Neutral White (Not Green)</a:t>
            </a:r>
          </a:p>
        </p:txBody>
      </p:sp>
      <p:sp>
        <p:nvSpPr>
          <p:cNvPr id="46" name="TextBox 45"/>
          <p:cNvSpPr txBox="1"/>
          <p:nvPr/>
        </p:nvSpPr>
        <p:spPr>
          <a:xfrm>
            <a:off x="2871216" y="4361688"/>
            <a:ext cx="3988155" cy="621792"/>
          </a:xfrm>
          <a:prstGeom prst="rect">
            <a:avLst/>
          </a:prstGeom>
          <a:noFill/>
        </p:spPr>
        <p:txBody>
          <a:bodyPr wrap="square">
            <a:spAutoFit/>
          </a:bodyPr>
          <a:lstStyle/>
          <a:p>
            <a:pPr algn="l"/>
            <a:r>
              <a:rPr sz="780" b="0" i="0">
                <a:solidFill>
                  <a:srgbClr val="9E9EB0"/>
                </a:solidFill>
                <a:latin typeface="Arial"/>
              </a:rPr>
              <a:t>Fares are static data facts, not buttons. Styling them in neutral white (#F0F0F5) preserves green exclusively for actionable CTAs.</a:t>
            </a:r>
          </a:p>
        </p:txBody>
      </p:sp>
      <p:sp>
        <p:nvSpPr>
          <p:cNvPr id="47" name="Rectangle 46"/>
          <p:cNvSpPr/>
          <p:nvPr/>
        </p:nvSpPr>
        <p:spPr>
          <a:xfrm>
            <a:off x="7106259" y="4050792"/>
            <a:ext cx="4491075" cy="987552"/>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197699" y="4142232"/>
            <a:ext cx="292608" cy="292608"/>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197699" y="4160520"/>
            <a:ext cx="292608" cy="256032"/>
          </a:xfrm>
          <a:prstGeom prst="rect">
            <a:avLst/>
          </a:prstGeom>
          <a:noFill/>
        </p:spPr>
        <p:txBody>
          <a:bodyPr wrap="square">
            <a:spAutoFit/>
          </a:bodyPr>
          <a:lstStyle/>
          <a:p>
            <a:pPr algn="ctr"/>
            <a:r>
              <a:rPr sz="1100" b="1" i="0">
                <a:solidFill>
                  <a:srgbClr val="448AFF"/>
                </a:solidFill>
                <a:latin typeface="Arial"/>
              </a:rPr>
              <a:t>④</a:t>
            </a:r>
          </a:p>
        </p:txBody>
      </p:sp>
      <p:sp>
        <p:nvSpPr>
          <p:cNvPr id="50" name="TextBox 49"/>
          <p:cNvSpPr txBox="1"/>
          <p:nvPr/>
        </p:nvSpPr>
        <p:spPr>
          <a:xfrm>
            <a:off x="7545171" y="4142232"/>
            <a:ext cx="3988155" cy="219456"/>
          </a:xfrm>
          <a:prstGeom prst="rect">
            <a:avLst/>
          </a:prstGeom>
          <a:noFill/>
        </p:spPr>
        <p:txBody>
          <a:bodyPr wrap="square">
            <a:spAutoFit/>
          </a:bodyPr>
          <a:lstStyle/>
          <a:p>
            <a:pPr algn="l"/>
            <a:r>
              <a:rPr sz="880" b="1" i="0">
                <a:solidFill>
                  <a:srgbClr val="FFFFFF"/>
                </a:solidFill>
                <a:latin typeface="Arial"/>
              </a:rPr>
              <a:t>56px Passenger Selector Buttons</a:t>
            </a:r>
          </a:p>
        </p:txBody>
      </p:sp>
      <p:sp>
        <p:nvSpPr>
          <p:cNvPr id="51" name="TextBox 50"/>
          <p:cNvSpPr txBox="1"/>
          <p:nvPr/>
        </p:nvSpPr>
        <p:spPr>
          <a:xfrm>
            <a:off x="7545171" y="4361688"/>
            <a:ext cx="3988155" cy="621792"/>
          </a:xfrm>
          <a:prstGeom prst="rect">
            <a:avLst/>
          </a:prstGeom>
          <a:noFill/>
        </p:spPr>
        <p:txBody>
          <a:bodyPr wrap="square">
            <a:spAutoFit/>
          </a:bodyPr>
          <a:lstStyle/>
          <a:p>
            <a:pPr algn="l"/>
            <a:r>
              <a:rPr sz="780" b="0" i="0">
                <a:solidFill>
                  <a:srgbClr val="9E9EB0"/>
                </a:solidFill>
                <a:latin typeface="Arial"/>
              </a:rPr>
              <a:t>Direct 1, 2, 3, 4 count buttons + 5+ group stepper. Generous spacing (12px gap) prevents adjacent double-taps.</a:t>
            </a:r>
          </a:p>
        </p:txBody>
      </p:sp>
      <p:sp>
        <p:nvSpPr>
          <p:cNvPr id="52" name="Rectangle 51"/>
          <p:cNvSpPr/>
          <p:nvPr/>
        </p:nvSpPr>
        <p:spPr>
          <a:xfrm>
            <a:off x="2432304" y="5175504"/>
            <a:ext cx="4491075" cy="987552"/>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523744" y="5266944"/>
            <a:ext cx="292608" cy="292608"/>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523744" y="5285232"/>
            <a:ext cx="292608" cy="256032"/>
          </a:xfrm>
          <a:prstGeom prst="rect">
            <a:avLst/>
          </a:prstGeom>
          <a:noFill/>
        </p:spPr>
        <p:txBody>
          <a:bodyPr wrap="square">
            <a:spAutoFit/>
          </a:bodyPr>
          <a:lstStyle/>
          <a:p>
            <a:pPr algn="ctr"/>
            <a:r>
              <a:rPr sz="1100" b="1" i="0">
                <a:solidFill>
                  <a:srgbClr val="448AFF"/>
                </a:solidFill>
                <a:latin typeface="Arial"/>
              </a:rPr>
              <a:t>⑤</a:t>
            </a:r>
          </a:p>
        </p:txBody>
      </p:sp>
      <p:sp>
        <p:nvSpPr>
          <p:cNvPr id="55" name="TextBox 54"/>
          <p:cNvSpPr txBox="1"/>
          <p:nvPr/>
        </p:nvSpPr>
        <p:spPr>
          <a:xfrm>
            <a:off x="2871216" y="5266944"/>
            <a:ext cx="3988155" cy="219456"/>
          </a:xfrm>
          <a:prstGeom prst="rect">
            <a:avLst/>
          </a:prstGeom>
          <a:noFill/>
        </p:spPr>
        <p:txBody>
          <a:bodyPr wrap="square">
            <a:spAutoFit/>
          </a:bodyPr>
          <a:lstStyle/>
          <a:p>
            <a:pPr algn="l"/>
            <a:r>
              <a:rPr sz="880" b="1" i="0">
                <a:solidFill>
                  <a:srgbClr val="FFFFFF"/>
                </a:solidFill>
                <a:latin typeface="Arial"/>
              </a:rPr>
              <a:t>Collapsed 'Cash | Change ▾' Control</a:t>
            </a:r>
          </a:p>
        </p:txBody>
      </p:sp>
      <p:sp>
        <p:nvSpPr>
          <p:cNvPr id="56" name="TextBox 55"/>
          <p:cNvSpPr txBox="1"/>
          <p:nvPr/>
        </p:nvSpPr>
        <p:spPr>
          <a:xfrm>
            <a:off x="2871216" y="5486400"/>
            <a:ext cx="3988155" cy="621792"/>
          </a:xfrm>
          <a:prstGeom prst="rect">
            <a:avLst/>
          </a:prstGeom>
          <a:noFill/>
        </p:spPr>
        <p:txBody>
          <a:bodyPr wrap="square">
            <a:spAutoFit/>
          </a:bodyPr>
          <a:lstStyle/>
          <a:p>
            <a:pPr algn="l"/>
            <a:r>
              <a:rPr sz="780" b="0" i="0">
                <a:solidFill>
                  <a:srgbClr val="9E9EB0"/>
                </a:solidFill>
                <a:latin typeface="Arial"/>
              </a:rPr>
              <a:t>Cash is selected automatically. Eliminates confirmation popups, saving ~4 minutes of cumulative tapping per shift.</a:t>
            </a:r>
          </a:p>
        </p:txBody>
      </p:sp>
      <p:sp>
        <p:nvSpPr>
          <p:cNvPr id="57" name="Rectangle 56"/>
          <p:cNvSpPr/>
          <p:nvPr/>
        </p:nvSpPr>
        <p:spPr>
          <a:xfrm>
            <a:off x="7106259" y="5175504"/>
            <a:ext cx="4491075" cy="987552"/>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97699" y="5266944"/>
            <a:ext cx="292608" cy="292608"/>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197699" y="5285232"/>
            <a:ext cx="292608" cy="256032"/>
          </a:xfrm>
          <a:prstGeom prst="rect">
            <a:avLst/>
          </a:prstGeom>
          <a:noFill/>
        </p:spPr>
        <p:txBody>
          <a:bodyPr wrap="square">
            <a:spAutoFit/>
          </a:bodyPr>
          <a:lstStyle/>
          <a:p>
            <a:pPr algn="ctr"/>
            <a:r>
              <a:rPr sz="1100" b="1" i="0">
                <a:solidFill>
                  <a:srgbClr val="448AFF"/>
                </a:solidFill>
                <a:latin typeface="Arial"/>
              </a:rPr>
              <a:t>⑥</a:t>
            </a:r>
          </a:p>
        </p:txBody>
      </p:sp>
      <p:sp>
        <p:nvSpPr>
          <p:cNvPr id="60" name="TextBox 59"/>
          <p:cNvSpPr txBox="1"/>
          <p:nvPr/>
        </p:nvSpPr>
        <p:spPr>
          <a:xfrm>
            <a:off x="7545171" y="5266944"/>
            <a:ext cx="3988155" cy="219456"/>
          </a:xfrm>
          <a:prstGeom prst="rect">
            <a:avLst/>
          </a:prstGeom>
          <a:noFill/>
        </p:spPr>
        <p:txBody>
          <a:bodyPr wrap="square">
            <a:spAutoFit/>
          </a:bodyPr>
          <a:lstStyle/>
          <a:p>
            <a:pPr algn="l"/>
            <a:r>
              <a:rPr sz="880" b="1" i="0">
                <a:solidFill>
                  <a:srgbClr val="FFFFFF"/>
                </a:solidFill>
                <a:latin typeface="Arial"/>
              </a:rPr>
              <a:t>Dominant 36px Fare Total (₹75)</a:t>
            </a:r>
          </a:p>
        </p:txBody>
      </p:sp>
      <p:sp>
        <p:nvSpPr>
          <p:cNvPr id="61" name="TextBox 60"/>
          <p:cNvSpPr txBox="1"/>
          <p:nvPr/>
        </p:nvSpPr>
        <p:spPr>
          <a:xfrm>
            <a:off x="7545171" y="5486400"/>
            <a:ext cx="3988155" cy="621792"/>
          </a:xfrm>
          <a:prstGeom prst="rect">
            <a:avLst/>
          </a:prstGeom>
          <a:noFill/>
        </p:spPr>
        <p:txBody>
          <a:bodyPr wrap="square">
            <a:spAutoFit/>
          </a:bodyPr>
          <a:lstStyle/>
          <a:p>
            <a:pPr algn="l"/>
            <a:r>
              <a:rPr sz="780" b="0" i="0">
                <a:solidFill>
                  <a:srgbClr val="9E9EB0"/>
                </a:solidFill>
                <a:latin typeface="Arial"/>
              </a:rPr>
              <a:t>Calculates 3 × ₹25 = ₹75 instantly. Massive contrast ensures conductor speaks the exact fare aloud without hesitation.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594360" y="365760"/>
            <a:ext cx="11002975" cy="502920"/>
          </a:xfrm>
          <a:prstGeom prst="rect">
            <a:avLst/>
          </a:prstGeom>
          <a:noFill/>
        </p:spPr>
        <p:txBody>
          <a:bodyPr wrap="square">
            <a:spAutoFit/>
          </a:bodyPr>
          <a:lstStyle/>
          <a:p>
            <a:pPr algn="l"/>
            <a:r>
              <a:rPr sz="2300" b="1" i="0">
                <a:solidFill>
                  <a:srgbClr val="FFFFFF"/>
                </a:solidFill>
                <a:latin typeface="Arial"/>
              </a:rPr>
              <a:t>Optimistic speed. Guaranteed forgiveness.</a:t>
            </a:r>
          </a:p>
        </p:txBody>
      </p:sp>
      <p:sp>
        <p:nvSpPr>
          <p:cNvPr id="3" name="Rectangle 2"/>
          <p:cNvSpPr/>
          <p:nvPr/>
        </p:nvSpPr>
        <p:spPr>
          <a:xfrm>
            <a:off x="594360" y="896112"/>
            <a:ext cx="2011680" cy="3810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865815" y="6473952"/>
            <a:ext cx="731520" cy="274320"/>
          </a:xfrm>
          <a:prstGeom prst="rect">
            <a:avLst/>
          </a:prstGeom>
          <a:noFill/>
        </p:spPr>
        <p:txBody>
          <a:bodyPr wrap="square">
            <a:spAutoFit/>
          </a:bodyPr>
          <a:lstStyle/>
          <a:p>
            <a:pPr algn="r"/>
            <a:r>
              <a:rPr sz="800" b="0" i="0">
                <a:solidFill>
                  <a:srgbClr val="9E9EB0"/>
                </a:solidFill>
                <a:latin typeface="Arial"/>
              </a:rPr>
              <a:t>7 / 10</a:t>
            </a:r>
          </a:p>
        </p:txBody>
      </p:sp>
      <p:sp>
        <p:nvSpPr>
          <p:cNvPr id="5" name="Rectangle 4"/>
          <p:cNvSpPr/>
          <p:nvPr/>
        </p:nvSpPr>
        <p:spPr>
          <a:xfrm>
            <a:off x="548640" y="1051560"/>
            <a:ext cx="1609344" cy="3383280"/>
          </a:xfrm>
          <a:prstGeom prst="rect">
            <a:avLst/>
          </a:prstGeom>
          <a:solidFill>
            <a:srgbClr val="181832"/>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3_ticket_success.png"/>
          <p:cNvPicPr>
            <a:picLocks noChangeAspect="1"/>
          </p:cNvPicPr>
          <p:nvPr/>
        </p:nvPicPr>
        <p:blipFill>
          <a:blip r:embed="rId2"/>
          <a:stretch>
            <a:fillRect/>
          </a:stretch>
        </p:blipFill>
        <p:spPr>
          <a:xfrm>
            <a:off x="594360" y="1097280"/>
            <a:ext cx="1517904" cy="3291840"/>
          </a:xfrm>
          <a:prstGeom prst="rect">
            <a:avLst/>
          </a:prstGeom>
        </p:spPr>
      </p:pic>
      <p:sp>
        <p:nvSpPr>
          <p:cNvPr id="7" name="TextBox 6"/>
          <p:cNvSpPr txBox="1"/>
          <p:nvPr/>
        </p:nvSpPr>
        <p:spPr>
          <a:xfrm>
            <a:off x="594360" y="4498848"/>
            <a:ext cx="1517904" cy="219456"/>
          </a:xfrm>
          <a:prstGeom prst="rect">
            <a:avLst/>
          </a:prstGeom>
          <a:noFill/>
        </p:spPr>
        <p:txBody>
          <a:bodyPr wrap="square">
            <a:spAutoFit/>
          </a:bodyPr>
          <a:lstStyle/>
          <a:p>
            <a:pPr algn="l"/>
            <a:r>
              <a:rPr sz="800" b="1" i="0">
                <a:solidFill>
                  <a:srgbClr val="00E676"/>
                </a:solidFill>
                <a:latin typeface="Arial"/>
              </a:rPr>
              <a:t>1. SUCCESS CONFIRMATION</a:t>
            </a:r>
          </a:p>
        </p:txBody>
      </p:sp>
      <p:sp>
        <p:nvSpPr>
          <p:cNvPr id="8" name="TextBox 7"/>
          <p:cNvSpPr txBox="1"/>
          <p:nvPr/>
        </p:nvSpPr>
        <p:spPr>
          <a:xfrm>
            <a:off x="594360" y="4709160"/>
            <a:ext cx="1517904" cy="594360"/>
          </a:xfrm>
          <a:prstGeom prst="rect">
            <a:avLst/>
          </a:prstGeom>
          <a:noFill/>
        </p:spPr>
        <p:txBody>
          <a:bodyPr wrap="square">
            <a:spAutoFit/>
          </a:bodyPr>
          <a:lstStyle/>
          <a:p>
            <a:pPr algn="l"/>
            <a:r>
              <a:rPr sz="720" b="0" i="0">
                <a:solidFill>
                  <a:srgbClr val="9E9EB0"/>
                </a:solidFill>
                <a:latin typeface="Arial"/>
              </a:rPr>
              <a:t>Checkmark animation • 'Ticket Issued!' • 3×Majestic ₹75 Cash • 2.1s completion metric.</a:t>
            </a:r>
          </a:p>
        </p:txBody>
      </p:sp>
      <p:sp>
        <p:nvSpPr>
          <p:cNvPr id="9" name="Rectangle 8"/>
          <p:cNvSpPr/>
          <p:nvPr/>
        </p:nvSpPr>
        <p:spPr>
          <a:xfrm>
            <a:off x="2340864" y="1051560"/>
            <a:ext cx="1609344" cy="3383280"/>
          </a:xfrm>
          <a:prstGeom prst="rect">
            <a:avLst/>
          </a:prstGeom>
          <a:solidFill>
            <a:srgbClr val="181832"/>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4_undo_active_grid.png"/>
          <p:cNvPicPr>
            <a:picLocks noChangeAspect="1"/>
          </p:cNvPicPr>
          <p:nvPr/>
        </p:nvPicPr>
        <p:blipFill>
          <a:blip r:embed="rId3"/>
          <a:stretch>
            <a:fillRect/>
          </a:stretch>
        </p:blipFill>
        <p:spPr>
          <a:xfrm>
            <a:off x="2386584" y="1097280"/>
            <a:ext cx="1517904" cy="3291840"/>
          </a:xfrm>
          <a:prstGeom prst="rect">
            <a:avLst/>
          </a:prstGeom>
        </p:spPr>
      </p:pic>
      <p:sp>
        <p:nvSpPr>
          <p:cNvPr id="11" name="TextBox 10"/>
          <p:cNvSpPr txBox="1"/>
          <p:nvPr/>
        </p:nvSpPr>
        <p:spPr>
          <a:xfrm>
            <a:off x="2386584" y="4498848"/>
            <a:ext cx="1517904" cy="219456"/>
          </a:xfrm>
          <a:prstGeom prst="rect">
            <a:avLst/>
          </a:prstGeom>
          <a:noFill/>
        </p:spPr>
        <p:txBody>
          <a:bodyPr wrap="square">
            <a:spAutoFit/>
          </a:bodyPr>
          <a:lstStyle/>
          <a:p>
            <a:pPr algn="l"/>
            <a:r>
              <a:rPr sz="800" b="1" i="0">
                <a:solidFill>
                  <a:srgbClr val="FF5252"/>
                </a:solidFill>
                <a:latin typeface="Arial"/>
              </a:rPr>
              <a:t>2. ACTIVE UNDO WINDOW</a:t>
            </a:r>
          </a:p>
        </p:txBody>
      </p:sp>
      <p:sp>
        <p:nvSpPr>
          <p:cNvPr id="12" name="TextBox 11"/>
          <p:cNvSpPr txBox="1"/>
          <p:nvPr/>
        </p:nvSpPr>
        <p:spPr>
          <a:xfrm>
            <a:off x="2386584" y="4709160"/>
            <a:ext cx="1517904" cy="594360"/>
          </a:xfrm>
          <a:prstGeom prst="rect">
            <a:avLst/>
          </a:prstGeom>
          <a:noFill/>
        </p:spPr>
        <p:txBody>
          <a:bodyPr wrap="square">
            <a:spAutoFit/>
          </a:bodyPr>
          <a:lstStyle/>
          <a:p>
            <a:pPr algn="l"/>
            <a:r>
              <a:rPr sz="720" b="0" i="0">
                <a:solidFill>
                  <a:srgbClr val="9E9EB0"/>
                </a:solidFill>
                <a:latin typeface="Arial"/>
              </a:rPr>
              <a:t>Issue button morphs to red pulsing 'Undo Last Ticket' (5s countdown timer).</a:t>
            </a:r>
          </a:p>
        </p:txBody>
      </p:sp>
      <p:sp>
        <p:nvSpPr>
          <p:cNvPr id="13" name="Rectangle 12"/>
          <p:cNvSpPr/>
          <p:nvPr/>
        </p:nvSpPr>
        <p:spPr>
          <a:xfrm>
            <a:off x="4133088" y="1051560"/>
            <a:ext cx="1609344" cy="3383280"/>
          </a:xfrm>
          <a:prstGeom prst="rect">
            <a:avLst/>
          </a:prstGeom>
          <a:solidFill>
            <a:srgbClr val="181832"/>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5_sunlight_mode.png"/>
          <p:cNvPicPr>
            <a:picLocks noChangeAspect="1"/>
          </p:cNvPicPr>
          <p:nvPr/>
        </p:nvPicPr>
        <p:blipFill>
          <a:blip r:embed="rId4"/>
          <a:stretch>
            <a:fillRect/>
          </a:stretch>
        </p:blipFill>
        <p:spPr>
          <a:xfrm>
            <a:off x="4178808" y="1097280"/>
            <a:ext cx="1517904" cy="3291840"/>
          </a:xfrm>
          <a:prstGeom prst="rect">
            <a:avLst/>
          </a:prstGeom>
        </p:spPr>
      </p:pic>
      <p:sp>
        <p:nvSpPr>
          <p:cNvPr id="15" name="TextBox 14"/>
          <p:cNvSpPr txBox="1"/>
          <p:nvPr/>
        </p:nvSpPr>
        <p:spPr>
          <a:xfrm>
            <a:off x="4178808" y="4498848"/>
            <a:ext cx="1517904" cy="219456"/>
          </a:xfrm>
          <a:prstGeom prst="rect">
            <a:avLst/>
          </a:prstGeom>
          <a:noFill/>
        </p:spPr>
        <p:txBody>
          <a:bodyPr wrap="square">
            <a:spAutoFit/>
          </a:bodyPr>
          <a:lstStyle/>
          <a:p>
            <a:pPr algn="l"/>
            <a:r>
              <a:rPr sz="800" b="1" i="0">
                <a:solidFill>
                  <a:srgbClr val="FFB300"/>
                </a:solidFill>
                <a:latin typeface="Arial"/>
              </a:rPr>
              <a:t>3. SUNLIGHT MODE (☀️)</a:t>
            </a:r>
          </a:p>
        </p:txBody>
      </p:sp>
      <p:sp>
        <p:nvSpPr>
          <p:cNvPr id="16" name="TextBox 15"/>
          <p:cNvSpPr txBox="1"/>
          <p:nvPr/>
        </p:nvSpPr>
        <p:spPr>
          <a:xfrm>
            <a:off x="4178808" y="4709160"/>
            <a:ext cx="1517904" cy="594360"/>
          </a:xfrm>
          <a:prstGeom prst="rect">
            <a:avLst/>
          </a:prstGeom>
          <a:noFill/>
        </p:spPr>
        <p:txBody>
          <a:bodyPr wrap="square">
            <a:spAutoFit/>
          </a:bodyPr>
          <a:lstStyle/>
          <a:p>
            <a:pPr algn="l"/>
            <a:r>
              <a:rPr sz="720" b="0" i="0">
                <a:solidFill>
                  <a:srgbClr val="9E9EB0"/>
                </a:solidFill>
                <a:latin typeface="Arial"/>
              </a:rPr>
              <a:t>Pure white background &amp; black text optimized for &gt;10,000 lux outdoor glare.</a:t>
            </a:r>
          </a:p>
        </p:txBody>
      </p:sp>
      <p:sp>
        <p:nvSpPr>
          <p:cNvPr id="17" name="TextBox 16"/>
          <p:cNvSpPr txBox="1"/>
          <p:nvPr/>
        </p:nvSpPr>
        <p:spPr>
          <a:xfrm>
            <a:off x="6153912" y="1078992"/>
            <a:ext cx="5443423" cy="228600"/>
          </a:xfrm>
          <a:prstGeom prst="rect">
            <a:avLst/>
          </a:prstGeom>
          <a:noFill/>
        </p:spPr>
        <p:txBody>
          <a:bodyPr wrap="square">
            <a:spAutoFit/>
          </a:bodyPr>
          <a:lstStyle/>
          <a:p>
            <a:pPr algn="l"/>
            <a:r>
              <a:rPr sz="950" b="1" i="0">
                <a:solidFill>
                  <a:srgbClr val="448AFF"/>
                </a:solidFill>
                <a:latin typeface="Arial"/>
              </a:rPr>
              <a:t>FOUR EDGE CASES &amp; FAILURE MODE ARCHITECTURE</a:t>
            </a:r>
          </a:p>
        </p:txBody>
      </p:sp>
      <p:sp>
        <p:nvSpPr>
          <p:cNvPr id="18" name="Rectangle 17"/>
          <p:cNvSpPr/>
          <p:nvPr/>
        </p:nvSpPr>
        <p:spPr>
          <a:xfrm>
            <a:off x="6153912" y="1371600"/>
            <a:ext cx="5443423" cy="960120"/>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45352" y="1481328"/>
            <a:ext cx="320040" cy="320040"/>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45352" y="1499616"/>
            <a:ext cx="320040" cy="274320"/>
          </a:xfrm>
          <a:prstGeom prst="rect">
            <a:avLst/>
          </a:prstGeom>
          <a:noFill/>
        </p:spPr>
        <p:txBody>
          <a:bodyPr wrap="square">
            <a:spAutoFit/>
          </a:bodyPr>
          <a:lstStyle/>
          <a:p>
            <a:pPr algn="ctr"/>
            <a:r>
              <a:rPr sz="1200" b="0" i="0">
                <a:solidFill>
                  <a:srgbClr val="F0F0F5"/>
                </a:solidFill>
                <a:latin typeface="Arial"/>
              </a:rPr>
              <a:t>🤙</a:t>
            </a:r>
          </a:p>
        </p:txBody>
      </p:sp>
      <p:sp>
        <p:nvSpPr>
          <p:cNvPr id="21" name="TextBox 20"/>
          <p:cNvSpPr txBox="1"/>
          <p:nvPr/>
        </p:nvSpPr>
        <p:spPr>
          <a:xfrm>
            <a:off x="6629400" y="1463040"/>
            <a:ext cx="4894783" cy="219456"/>
          </a:xfrm>
          <a:prstGeom prst="rect">
            <a:avLst/>
          </a:prstGeom>
          <a:noFill/>
        </p:spPr>
        <p:txBody>
          <a:bodyPr wrap="square">
            <a:spAutoFit/>
          </a:bodyPr>
          <a:lstStyle/>
          <a:p>
            <a:pPr algn="l"/>
            <a:r>
              <a:rPr sz="880" b="1" i="0">
                <a:solidFill>
                  <a:srgbClr val="FFFFFF"/>
                </a:solidFill>
                <a:latin typeface="Arial"/>
              </a:rPr>
              <a:t>Edge Case 1: Wrong Destination Selected</a:t>
            </a:r>
          </a:p>
        </p:txBody>
      </p:sp>
      <p:sp>
        <p:nvSpPr>
          <p:cNvPr id="22" name="TextBox 21"/>
          <p:cNvSpPr txBox="1"/>
          <p:nvPr/>
        </p:nvSpPr>
        <p:spPr>
          <a:xfrm>
            <a:off x="6629400" y="1664208"/>
            <a:ext cx="4894783" cy="201168"/>
          </a:xfrm>
          <a:prstGeom prst="rect">
            <a:avLst/>
          </a:prstGeom>
          <a:noFill/>
        </p:spPr>
        <p:txBody>
          <a:bodyPr wrap="square">
            <a:spAutoFit/>
          </a:bodyPr>
          <a:lstStyle/>
          <a:p>
            <a:pPr algn="l"/>
            <a:r>
              <a:rPr sz="780" b="0" i="1">
                <a:solidFill>
                  <a:srgbClr val="FFB300"/>
                </a:solidFill>
                <a:latin typeface="Arial"/>
              </a:rPr>
              <a:t>Trigger: Passenger changes mind during boarding surge.</a:t>
            </a:r>
          </a:p>
        </p:txBody>
      </p:sp>
      <p:sp>
        <p:nvSpPr>
          <p:cNvPr id="23" name="TextBox 22"/>
          <p:cNvSpPr txBox="1"/>
          <p:nvPr/>
        </p:nvSpPr>
        <p:spPr>
          <a:xfrm>
            <a:off x="6629400" y="1865376"/>
            <a:ext cx="4894783" cy="420624"/>
          </a:xfrm>
          <a:prstGeom prst="rect">
            <a:avLst/>
          </a:prstGeom>
          <a:noFill/>
        </p:spPr>
        <p:txBody>
          <a:bodyPr wrap="square">
            <a:spAutoFit/>
          </a:bodyPr>
          <a:lstStyle/>
          <a:p>
            <a:pPr algn="l"/>
            <a:r>
              <a:rPr sz="780" b="0" i="0">
                <a:solidFill>
                  <a:srgbClr val="9E9EB0"/>
                </a:solidFill>
                <a:latin typeface="Arial"/>
              </a:rPr>
              <a:t>➔ Resolution: '← Change stop' back button on config screen returns immediately to destination grid. Zero modal dialogs, zero undo required.</a:t>
            </a:r>
          </a:p>
        </p:txBody>
      </p:sp>
      <p:sp>
        <p:nvSpPr>
          <p:cNvPr id="24" name="Rectangle 23"/>
          <p:cNvSpPr/>
          <p:nvPr/>
        </p:nvSpPr>
        <p:spPr>
          <a:xfrm>
            <a:off x="6153912" y="2423160"/>
            <a:ext cx="5443423" cy="960120"/>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45352" y="2532888"/>
            <a:ext cx="320040" cy="320040"/>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45352" y="2551176"/>
            <a:ext cx="320040" cy="274320"/>
          </a:xfrm>
          <a:prstGeom prst="rect">
            <a:avLst/>
          </a:prstGeom>
          <a:noFill/>
        </p:spPr>
        <p:txBody>
          <a:bodyPr wrap="square">
            <a:spAutoFit/>
          </a:bodyPr>
          <a:lstStyle/>
          <a:p>
            <a:pPr algn="ctr"/>
            <a:r>
              <a:rPr sz="1200" b="0" i="0">
                <a:solidFill>
                  <a:srgbClr val="F0F0F5"/>
                </a:solidFill>
                <a:latin typeface="Arial"/>
              </a:rPr>
              <a:t>↩️</a:t>
            </a:r>
          </a:p>
        </p:txBody>
      </p:sp>
      <p:sp>
        <p:nvSpPr>
          <p:cNvPr id="27" name="TextBox 26"/>
          <p:cNvSpPr txBox="1"/>
          <p:nvPr/>
        </p:nvSpPr>
        <p:spPr>
          <a:xfrm>
            <a:off x="6629400" y="2514600"/>
            <a:ext cx="4894783" cy="219456"/>
          </a:xfrm>
          <a:prstGeom prst="rect">
            <a:avLst/>
          </a:prstGeom>
          <a:noFill/>
        </p:spPr>
        <p:txBody>
          <a:bodyPr wrap="square">
            <a:spAutoFit/>
          </a:bodyPr>
          <a:lstStyle/>
          <a:p>
            <a:pPr algn="l"/>
            <a:r>
              <a:rPr sz="880" b="1" i="0">
                <a:solidFill>
                  <a:srgbClr val="FFFFFF"/>
                </a:solidFill>
                <a:latin typeface="Arial"/>
              </a:rPr>
              <a:t>Edge Case 2: Wrong Fare Amount Issued</a:t>
            </a:r>
          </a:p>
        </p:txBody>
      </p:sp>
      <p:sp>
        <p:nvSpPr>
          <p:cNvPr id="28" name="TextBox 27"/>
          <p:cNvSpPr txBox="1"/>
          <p:nvPr/>
        </p:nvSpPr>
        <p:spPr>
          <a:xfrm>
            <a:off x="6629400" y="2715768"/>
            <a:ext cx="4894783" cy="201168"/>
          </a:xfrm>
          <a:prstGeom prst="rect">
            <a:avLst/>
          </a:prstGeom>
          <a:noFill/>
        </p:spPr>
        <p:txBody>
          <a:bodyPr wrap="square">
            <a:spAutoFit/>
          </a:bodyPr>
          <a:lstStyle/>
          <a:p>
            <a:pPr algn="l"/>
            <a:r>
              <a:rPr sz="780" b="0" i="1">
                <a:solidFill>
                  <a:srgbClr val="FFB300"/>
                </a:solidFill>
                <a:latin typeface="Arial"/>
              </a:rPr>
              <a:t>Trigger: Accidental passenger count or fare tier error.</a:t>
            </a:r>
          </a:p>
        </p:txBody>
      </p:sp>
      <p:sp>
        <p:nvSpPr>
          <p:cNvPr id="29" name="TextBox 28"/>
          <p:cNvSpPr txBox="1"/>
          <p:nvPr/>
        </p:nvSpPr>
        <p:spPr>
          <a:xfrm>
            <a:off x="6629400" y="2916936"/>
            <a:ext cx="4894783" cy="420624"/>
          </a:xfrm>
          <a:prstGeom prst="rect">
            <a:avLst/>
          </a:prstGeom>
          <a:noFill/>
        </p:spPr>
        <p:txBody>
          <a:bodyPr wrap="square">
            <a:spAutoFit/>
          </a:bodyPr>
          <a:lstStyle/>
          <a:p>
            <a:pPr algn="l"/>
            <a:r>
              <a:rPr sz="780" b="0" i="0">
                <a:solidFill>
                  <a:srgbClr val="9E9EB0"/>
                </a:solidFill>
                <a:latin typeface="Arial"/>
              </a:rPr>
              <a:t>➔ Resolution: 5-Second Undo Window: Issue CTA transforms into prominent red 'Undo Last Ticket' button. 1 tap reverses transaction instantly.</a:t>
            </a:r>
          </a:p>
        </p:txBody>
      </p:sp>
      <p:sp>
        <p:nvSpPr>
          <p:cNvPr id="30" name="Rectangle 29"/>
          <p:cNvSpPr/>
          <p:nvPr/>
        </p:nvSpPr>
        <p:spPr>
          <a:xfrm>
            <a:off x="6153912" y="3474720"/>
            <a:ext cx="5443423" cy="960120"/>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45352" y="3584448"/>
            <a:ext cx="320040" cy="320040"/>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45352" y="3602736"/>
            <a:ext cx="320040" cy="274320"/>
          </a:xfrm>
          <a:prstGeom prst="rect">
            <a:avLst/>
          </a:prstGeom>
          <a:noFill/>
        </p:spPr>
        <p:txBody>
          <a:bodyPr wrap="square">
            <a:spAutoFit/>
          </a:bodyPr>
          <a:lstStyle/>
          <a:p>
            <a:pPr algn="ctr"/>
            <a:r>
              <a:rPr sz="1200" b="0" i="0">
                <a:solidFill>
                  <a:srgbClr val="F0F0F5"/>
                </a:solidFill>
                <a:latin typeface="Arial"/>
              </a:rPr>
              <a:t>🔁</a:t>
            </a:r>
          </a:p>
        </p:txBody>
      </p:sp>
      <p:sp>
        <p:nvSpPr>
          <p:cNvPr id="33" name="TextBox 32"/>
          <p:cNvSpPr txBox="1"/>
          <p:nvPr/>
        </p:nvSpPr>
        <p:spPr>
          <a:xfrm>
            <a:off x="6629400" y="3566160"/>
            <a:ext cx="4894783" cy="219456"/>
          </a:xfrm>
          <a:prstGeom prst="rect">
            <a:avLst/>
          </a:prstGeom>
          <a:noFill/>
        </p:spPr>
        <p:txBody>
          <a:bodyPr wrap="square">
            <a:spAutoFit/>
          </a:bodyPr>
          <a:lstStyle/>
          <a:p>
            <a:pPr algn="l"/>
            <a:r>
              <a:rPr sz="880" b="1" i="0">
                <a:solidFill>
                  <a:srgbClr val="FFFFFF"/>
                </a:solidFill>
                <a:latin typeface="Arial"/>
              </a:rPr>
              <a:t>Edge Case 3: Identical Group Follow-Up</a:t>
            </a:r>
          </a:p>
        </p:txBody>
      </p:sp>
      <p:sp>
        <p:nvSpPr>
          <p:cNvPr id="34" name="TextBox 33"/>
          <p:cNvSpPr txBox="1"/>
          <p:nvPr/>
        </p:nvSpPr>
        <p:spPr>
          <a:xfrm>
            <a:off x="6629400" y="3767328"/>
            <a:ext cx="4894783" cy="201168"/>
          </a:xfrm>
          <a:prstGeom prst="rect">
            <a:avLst/>
          </a:prstGeom>
          <a:noFill/>
        </p:spPr>
        <p:txBody>
          <a:bodyPr wrap="square">
            <a:spAutoFit/>
          </a:bodyPr>
          <a:lstStyle/>
          <a:p>
            <a:pPr algn="l"/>
            <a:r>
              <a:rPr sz="780" b="0" i="1">
                <a:solidFill>
                  <a:srgbClr val="FFB300"/>
                </a:solidFill>
                <a:latin typeface="Arial"/>
              </a:rPr>
              <a:t>Trigger: Multiple consecutive groups travel to same stop.</a:t>
            </a:r>
          </a:p>
        </p:txBody>
      </p:sp>
      <p:sp>
        <p:nvSpPr>
          <p:cNvPr id="35" name="TextBox 34"/>
          <p:cNvSpPr txBox="1"/>
          <p:nvPr/>
        </p:nvSpPr>
        <p:spPr>
          <a:xfrm>
            <a:off x="6629400" y="3968496"/>
            <a:ext cx="4894783" cy="420624"/>
          </a:xfrm>
          <a:prstGeom prst="rect">
            <a:avLst/>
          </a:prstGeom>
          <a:noFill/>
        </p:spPr>
        <p:txBody>
          <a:bodyPr wrap="square">
            <a:spAutoFit/>
          </a:bodyPr>
          <a:lstStyle/>
          <a:p>
            <a:pPr algn="l"/>
            <a:r>
              <a:rPr sz="780" b="0" i="0">
                <a:solidFill>
                  <a:srgbClr val="9E9EB0"/>
                </a:solidFill>
                <a:latin typeface="Arial"/>
              </a:rPr>
              <a:t>➔ Resolution: 'Repeat' Quick Action button pre-fills the exact destination, passenger count, and fare in 1 tap, bypassing reconfiguration.</a:t>
            </a:r>
          </a:p>
        </p:txBody>
      </p:sp>
      <p:sp>
        <p:nvSpPr>
          <p:cNvPr id="36" name="Rectangle 35"/>
          <p:cNvSpPr/>
          <p:nvPr/>
        </p:nvSpPr>
        <p:spPr>
          <a:xfrm>
            <a:off x="6153912" y="4526280"/>
            <a:ext cx="5443423" cy="960120"/>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45352" y="4636008"/>
            <a:ext cx="320040" cy="320040"/>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45352" y="4654296"/>
            <a:ext cx="320040" cy="274320"/>
          </a:xfrm>
          <a:prstGeom prst="rect">
            <a:avLst/>
          </a:prstGeom>
          <a:noFill/>
        </p:spPr>
        <p:txBody>
          <a:bodyPr wrap="square">
            <a:spAutoFit/>
          </a:bodyPr>
          <a:lstStyle/>
          <a:p>
            <a:pPr algn="ctr"/>
            <a:r>
              <a:rPr sz="1200" b="0" i="0">
                <a:solidFill>
                  <a:srgbClr val="F0F0F5"/>
                </a:solidFill>
                <a:latin typeface="Arial"/>
              </a:rPr>
              <a:t>📶</a:t>
            </a:r>
          </a:p>
        </p:txBody>
      </p:sp>
      <p:sp>
        <p:nvSpPr>
          <p:cNvPr id="39" name="TextBox 38"/>
          <p:cNvSpPr txBox="1"/>
          <p:nvPr/>
        </p:nvSpPr>
        <p:spPr>
          <a:xfrm>
            <a:off x="6629400" y="4617720"/>
            <a:ext cx="4894783" cy="219456"/>
          </a:xfrm>
          <a:prstGeom prst="rect">
            <a:avLst/>
          </a:prstGeom>
          <a:noFill/>
        </p:spPr>
        <p:txBody>
          <a:bodyPr wrap="square">
            <a:spAutoFit/>
          </a:bodyPr>
          <a:lstStyle/>
          <a:p>
            <a:pPr algn="l"/>
            <a:r>
              <a:rPr sz="880" b="1" i="0">
                <a:solidFill>
                  <a:srgbClr val="FFFFFF"/>
                </a:solidFill>
                <a:latin typeface="Arial"/>
              </a:rPr>
              <a:t>Edge Case 4: Bus Transit in Offline Tunnel</a:t>
            </a:r>
          </a:p>
        </p:txBody>
      </p:sp>
      <p:sp>
        <p:nvSpPr>
          <p:cNvPr id="40" name="TextBox 39"/>
          <p:cNvSpPr txBox="1"/>
          <p:nvPr/>
        </p:nvSpPr>
        <p:spPr>
          <a:xfrm>
            <a:off x="6629400" y="4818888"/>
            <a:ext cx="4894783" cy="201168"/>
          </a:xfrm>
          <a:prstGeom prst="rect">
            <a:avLst/>
          </a:prstGeom>
          <a:noFill/>
        </p:spPr>
        <p:txBody>
          <a:bodyPr wrap="square">
            <a:spAutoFit/>
          </a:bodyPr>
          <a:lstStyle/>
          <a:p>
            <a:pPr algn="l"/>
            <a:r>
              <a:rPr sz="780" b="0" i="1">
                <a:solidFill>
                  <a:srgbClr val="FFB300"/>
                </a:solidFill>
                <a:latin typeface="Arial"/>
              </a:rPr>
              <a:t>Trigger: Vehicle enters underground subway or rural blackspot.</a:t>
            </a:r>
          </a:p>
        </p:txBody>
      </p:sp>
      <p:sp>
        <p:nvSpPr>
          <p:cNvPr id="41" name="TextBox 40"/>
          <p:cNvSpPr txBox="1"/>
          <p:nvPr/>
        </p:nvSpPr>
        <p:spPr>
          <a:xfrm>
            <a:off x="6629400" y="5020056"/>
            <a:ext cx="4894783" cy="420624"/>
          </a:xfrm>
          <a:prstGeom prst="rect">
            <a:avLst/>
          </a:prstGeom>
          <a:noFill/>
        </p:spPr>
        <p:txBody>
          <a:bodyPr wrap="square">
            <a:spAutoFit/>
          </a:bodyPr>
          <a:lstStyle/>
          <a:p>
            <a:pPr algn="l"/>
            <a:r>
              <a:rPr sz="780" b="0" i="0">
                <a:solidFill>
                  <a:srgbClr val="9E9EB0"/>
                </a:solidFill>
                <a:latin typeface="Arial"/>
              </a:rPr>
              <a:t>➔ Resolution: Full Offline Continuity: Grid, fare tables, and counter operate entirely offline. Amber status dot warns user; auto-syncs on reconnect.</a:t>
            </a:r>
          </a:p>
        </p:txBody>
      </p:sp>
      <p:sp>
        <p:nvSpPr>
          <p:cNvPr id="42" name="Rectangle 41"/>
          <p:cNvSpPr/>
          <p:nvPr/>
        </p:nvSpPr>
        <p:spPr>
          <a:xfrm>
            <a:off x="6153912" y="5623560"/>
            <a:ext cx="5443423" cy="777240"/>
          </a:xfrm>
          <a:prstGeom prst="rect">
            <a:avLst/>
          </a:prstGeom>
          <a:solidFill>
            <a:srgbClr val="180608"/>
          </a:solidFill>
          <a:ln w="9525">
            <a:solidFill>
              <a:srgbClr val="FF5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53912" y="5623560"/>
            <a:ext cx="5443423" cy="25400"/>
          </a:xfrm>
          <a:prstGeom prst="rect">
            <a:avLst/>
          </a:prstGeom>
          <a:solidFill>
            <a:srgbClr val="FF52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63640" y="5687568"/>
            <a:ext cx="5223967" cy="201168"/>
          </a:xfrm>
          <a:prstGeom prst="rect">
            <a:avLst/>
          </a:prstGeom>
          <a:noFill/>
        </p:spPr>
        <p:txBody>
          <a:bodyPr wrap="square">
            <a:spAutoFit/>
          </a:bodyPr>
          <a:lstStyle/>
          <a:p>
            <a:pPr algn="l"/>
            <a:r>
              <a:rPr sz="850" b="1" i="0">
                <a:solidFill>
                  <a:srgbClr val="FF5252"/>
                </a:solidFill>
                <a:latin typeface="Arial"/>
              </a:rPr>
              <a:t>🛡️ Critical UX Engineering: Undo Timer Race Condition Resolution</a:t>
            </a:r>
          </a:p>
        </p:txBody>
      </p:sp>
      <p:sp>
        <p:nvSpPr>
          <p:cNvPr id="45" name="TextBox 44"/>
          <p:cNvSpPr txBox="1"/>
          <p:nvPr/>
        </p:nvSpPr>
        <p:spPr>
          <a:xfrm>
            <a:off x="6263640" y="5888736"/>
            <a:ext cx="5223967" cy="475488"/>
          </a:xfrm>
          <a:prstGeom prst="rect">
            <a:avLst/>
          </a:prstGeom>
          <a:noFill/>
        </p:spPr>
        <p:txBody>
          <a:bodyPr wrap="square">
            <a:spAutoFit/>
          </a:bodyPr>
          <a:lstStyle/>
          <a:p>
            <a:pPr algn="l"/>
            <a:r>
              <a:rPr sz="780" b="0" i="0">
                <a:solidFill>
                  <a:srgbClr val="F0F0F5"/>
                </a:solidFill>
                <a:latin typeface="Arial"/>
              </a:rPr>
              <a:t>In timer-based undo UIs, auto-resetting the screen while the user's thumb is in flight creates fatal tap failures. ConductorOS explicitly clears the undo timeout the instant any touch interaction is detected, guaranteeing the conductor can never be locked out.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594360" y="365760"/>
            <a:ext cx="11002975" cy="502920"/>
          </a:xfrm>
          <a:prstGeom prst="rect">
            <a:avLst/>
          </a:prstGeom>
          <a:noFill/>
        </p:spPr>
        <p:txBody>
          <a:bodyPr wrap="square">
            <a:spAutoFit/>
          </a:bodyPr>
          <a:lstStyle/>
          <a:p>
            <a:pPr algn="l"/>
            <a:r>
              <a:rPr sz="2300" b="1" i="0">
                <a:solidFill>
                  <a:srgbClr val="FFFFFF"/>
                </a:solidFill>
                <a:latin typeface="Arial"/>
              </a:rPr>
              <a:t>Don't take my word for it. Try it.</a:t>
            </a:r>
          </a:p>
        </p:txBody>
      </p:sp>
      <p:sp>
        <p:nvSpPr>
          <p:cNvPr id="3" name="Rectangle 2"/>
          <p:cNvSpPr/>
          <p:nvPr/>
        </p:nvSpPr>
        <p:spPr>
          <a:xfrm>
            <a:off x="594360" y="896112"/>
            <a:ext cx="2011680" cy="3810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865815" y="6473952"/>
            <a:ext cx="731520" cy="274320"/>
          </a:xfrm>
          <a:prstGeom prst="rect">
            <a:avLst/>
          </a:prstGeom>
          <a:noFill/>
        </p:spPr>
        <p:txBody>
          <a:bodyPr wrap="square">
            <a:spAutoFit/>
          </a:bodyPr>
          <a:lstStyle/>
          <a:p>
            <a:pPr algn="r"/>
            <a:r>
              <a:rPr sz="800" b="0" i="0">
                <a:solidFill>
                  <a:srgbClr val="9E9EB0"/>
                </a:solidFill>
                <a:latin typeface="Arial"/>
              </a:rPr>
              <a:t>8 / 10</a:t>
            </a:r>
          </a:p>
        </p:txBody>
      </p:sp>
      <p:sp>
        <p:nvSpPr>
          <p:cNvPr id="5" name="Rectangle 4"/>
          <p:cNvSpPr/>
          <p:nvPr/>
        </p:nvSpPr>
        <p:spPr>
          <a:xfrm>
            <a:off x="4541367" y="1234440"/>
            <a:ext cx="3108960" cy="3108960"/>
          </a:xfrm>
          <a:prstGeom prst="rect">
            <a:avLst/>
          </a:prstGeom>
          <a:solidFill>
            <a:srgbClr val="FFFFFF"/>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qr-code.png"/>
          <p:cNvPicPr>
            <a:picLocks noChangeAspect="1"/>
          </p:cNvPicPr>
          <p:nvPr/>
        </p:nvPicPr>
        <p:blipFill>
          <a:blip r:embed="rId2"/>
          <a:stretch>
            <a:fillRect/>
          </a:stretch>
        </p:blipFill>
        <p:spPr>
          <a:xfrm>
            <a:off x="4678527" y="1371600"/>
            <a:ext cx="2834640" cy="2834640"/>
          </a:xfrm>
          <a:prstGeom prst="rect">
            <a:avLst/>
          </a:prstGeom>
        </p:spPr>
      </p:pic>
      <p:sp>
        <p:nvSpPr>
          <p:cNvPr id="7" name="TextBox 6"/>
          <p:cNvSpPr txBox="1"/>
          <p:nvPr/>
        </p:nvSpPr>
        <p:spPr>
          <a:xfrm>
            <a:off x="3947007" y="4407408"/>
            <a:ext cx="4297680" cy="365760"/>
          </a:xfrm>
          <a:prstGeom prst="rect">
            <a:avLst/>
          </a:prstGeom>
          <a:noFill/>
        </p:spPr>
        <p:txBody>
          <a:bodyPr wrap="none">
            <a:spAutoFit/>
          </a:bodyPr>
          <a:lstStyle/>
          <a:p>
            <a:pPr algn="ctr"/>
            <a:r>
              <a:rPr sz="900" b="1" u="sng">
                <a:solidFill>
                  <a:srgbClr val="448AFF"/>
                </a:solidFill>
                <a:latin typeface="Arial"/>
                <a:hlinkClick r:id="rId3"/>
              </a:rPr>
              <a:t>ujjalsarkar7674-hub.github.io/nielsen-conductoros/prototype/</a:t>
            </a:r>
          </a:p>
        </p:txBody>
      </p:sp>
      <p:sp>
        <p:nvSpPr>
          <p:cNvPr id="8" name="TextBox 7"/>
          <p:cNvSpPr txBox="1"/>
          <p:nvPr/>
        </p:nvSpPr>
        <p:spPr>
          <a:xfrm>
            <a:off x="3581247" y="4736592"/>
            <a:ext cx="5029200" cy="274320"/>
          </a:xfrm>
          <a:prstGeom prst="rect">
            <a:avLst/>
          </a:prstGeom>
          <a:noFill/>
        </p:spPr>
        <p:txBody>
          <a:bodyPr wrap="square">
            <a:spAutoFit/>
          </a:bodyPr>
          <a:lstStyle/>
          <a:p>
            <a:pPr algn="ctr"/>
            <a:r>
              <a:rPr sz="850" b="0" i="0">
                <a:solidFill>
                  <a:srgbClr val="9E9EB0"/>
                </a:solidFill>
                <a:latin typeface="Arial"/>
              </a:rPr>
              <a:t>📷 Scan with your mobile device camera to launch live prototype</a:t>
            </a:r>
          </a:p>
        </p:txBody>
      </p:sp>
      <p:sp>
        <p:nvSpPr>
          <p:cNvPr id="9" name="TextBox 8"/>
          <p:cNvSpPr txBox="1"/>
          <p:nvPr/>
        </p:nvSpPr>
        <p:spPr>
          <a:xfrm>
            <a:off x="594360" y="1078992"/>
            <a:ext cx="3718407" cy="228600"/>
          </a:xfrm>
          <a:prstGeom prst="rect">
            <a:avLst/>
          </a:prstGeom>
          <a:noFill/>
        </p:spPr>
        <p:txBody>
          <a:bodyPr wrap="square">
            <a:spAutoFit/>
          </a:bodyPr>
          <a:lstStyle/>
          <a:p>
            <a:pPr algn="l"/>
            <a:r>
              <a:rPr sz="950" b="1" i="0">
                <a:solidFill>
                  <a:srgbClr val="448AFF"/>
                </a:solidFill>
                <a:latin typeface="Arial"/>
              </a:rPr>
              <a:t>LIVE PRODUCT DEMONSTRATION GUIDE</a:t>
            </a:r>
          </a:p>
        </p:txBody>
      </p:sp>
      <p:sp>
        <p:nvSpPr>
          <p:cNvPr id="10" name="Rectangle 9"/>
          <p:cNvSpPr/>
          <p:nvPr/>
        </p:nvSpPr>
        <p:spPr>
          <a:xfrm>
            <a:off x="594360" y="1371600"/>
            <a:ext cx="3718407" cy="960120"/>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04088" y="1481328"/>
            <a:ext cx="320040" cy="320040"/>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1499616"/>
            <a:ext cx="320040" cy="274320"/>
          </a:xfrm>
          <a:prstGeom prst="rect">
            <a:avLst/>
          </a:prstGeom>
          <a:noFill/>
        </p:spPr>
        <p:txBody>
          <a:bodyPr wrap="square">
            <a:spAutoFit/>
          </a:bodyPr>
          <a:lstStyle/>
          <a:p>
            <a:pPr algn="ctr"/>
            <a:r>
              <a:rPr sz="1200" b="1" i="0">
                <a:solidFill>
                  <a:srgbClr val="00E676"/>
                </a:solidFill>
                <a:latin typeface="Arial"/>
              </a:rPr>
              <a:t>1</a:t>
            </a:r>
          </a:p>
        </p:txBody>
      </p:sp>
      <p:sp>
        <p:nvSpPr>
          <p:cNvPr id="13" name="TextBox 12"/>
          <p:cNvSpPr txBox="1"/>
          <p:nvPr/>
        </p:nvSpPr>
        <p:spPr>
          <a:xfrm>
            <a:off x="1097280" y="1481328"/>
            <a:ext cx="3096615" cy="228600"/>
          </a:xfrm>
          <a:prstGeom prst="rect">
            <a:avLst/>
          </a:prstGeom>
          <a:noFill/>
        </p:spPr>
        <p:txBody>
          <a:bodyPr wrap="square">
            <a:spAutoFit/>
          </a:bodyPr>
          <a:lstStyle/>
          <a:p>
            <a:pPr algn="l"/>
            <a:r>
              <a:rPr sz="950" b="1" i="0">
                <a:solidFill>
                  <a:srgbClr val="FFFFFF"/>
                </a:solidFill>
                <a:latin typeface="Arial"/>
              </a:rPr>
              <a:t>Scan QR Code</a:t>
            </a:r>
          </a:p>
        </p:txBody>
      </p:sp>
      <p:sp>
        <p:nvSpPr>
          <p:cNvPr id="14" name="TextBox 13"/>
          <p:cNvSpPr txBox="1"/>
          <p:nvPr/>
        </p:nvSpPr>
        <p:spPr>
          <a:xfrm>
            <a:off x="1097280" y="1719072"/>
            <a:ext cx="3096615" cy="548640"/>
          </a:xfrm>
          <a:prstGeom prst="rect">
            <a:avLst/>
          </a:prstGeom>
          <a:noFill/>
        </p:spPr>
        <p:txBody>
          <a:bodyPr wrap="square">
            <a:spAutoFit/>
          </a:bodyPr>
          <a:lstStyle/>
          <a:p>
            <a:pPr algn="l"/>
            <a:r>
              <a:rPr sz="800" b="0" i="0">
                <a:solidFill>
                  <a:srgbClr val="9E9EB0"/>
                </a:solidFill>
                <a:latin typeface="Arial"/>
              </a:rPr>
              <a:t>Open the live prototype in your mobile browser. The UI adapts responsively to your actual smartphone screen.</a:t>
            </a:r>
          </a:p>
        </p:txBody>
      </p:sp>
      <p:sp>
        <p:nvSpPr>
          <p:cNvPr id="15" name="Rectangle 14"/>
          <p:cNvSpPr/>
          <p:nvPr/>
        </p:nvSpPr>
        <p:spPr>
          <a:xfrm>
            <a:off x="594360" y="2450592"/>
            <a:ext cx="3718407" cy="960120"/>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4088" y="2560320"/>
            <a:ext cx="320040" cy="320040"/>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2578608"/>
            <a:ext cx="320040" cy="274320"/>
          </a:xfrm>
          <a:prstGeom prst="rect">
            <a:avLst/>
          </a:prstGeom>
          <a:noFill/>
        </p:spPr>
        <p:txBody>
          <a:bodyPr wrap="square">
            <a:spAutoFit/>
          </a:bodyPr>
          <a:lstStyle/>
          <a:p>
            <a:pPr algn="ctr"/>
            <a:r>
              <a:rPr sz="1200" b="1" i="0">
                <a:solidFill>
                  <a:srgbClr val="00E676"/>
                </a:solidFill>
                <a:latin typeface="Arial"/>
              </a:rPr>
              <a:t>2</a:t>
            </a:r>
          </a:p>
        </p:txBody>
      </p:sp>
      <p:sp>
        <p:nvSpPr>
          <p:cNvPr id="18" name="TextBox 17"/>
          <p:cNvSpPr txBox="1"/>
          <p:nvPr/>
        </p:nvSpPr>
        <p:spPr>
          <a:xfrm>
            <a:off x="1097280" y="2560320"/>
            <a:ext cx="3096615" cy="228600"/>
          </a:xfrm>
          <a:prstGeom prst="rect">
            <a:avLst/>
          </a:prstGeom>
          <a:noFill/>
        </p:spPr>
        <p:txBody>
          <a:bodyPr wrap="square">
            <a:spAutoFit/>
          </a:bodyPr>
          <a:lstStyle/>
          <a:p>
            <a:pPr algn="l"/>
            <a:r>
              <a:rPr sz="950" b="1" i="0">
                <a:solidFill>
                  <a:srgbClr val="FFFFFF"/>
                </a:solidFill>
                <a:latin typeface="Arial"/>
              </a:rPr>
              <a:t>Select Destination</a:t>
            </a:r>
          </a:p>
        </p:txBody>
      </p:sp>
      <p:sp>
        <p:nvSpPr>
          <p:cNvPr id="19" name="TextBox 18"/>
          <p:cNvSpPr txBox="1"/>
          <p:nvPr/>
        </p:nvSpPr>
        <p:spPr>
          <a:xfrm>
            <a:off x="1097280" y="2798064"/>
            <a:ext cx="3096615" cy="548640"/>
          </a:xfrm>
          <a:prstGeom prst="rect">
            <a:avLst/>
          </a:prstGeom>
          <a:noFill/>
        </p:spPr>
        <p:txBody>
          <a:bodyPr wrap="square">
            <a:spAutoFit/>
          </a:bodyPr>
          <a:lstStyle/>
          <a:p>
            <a:pPr algn="l"/>
            <a:r>
              <a:rPr sz="800" b="0" i="0">
                <a:solidFill>
                  <a:srgbClr val="9E9EB0"/>
                </a:solidFill>
                <a:latin typeface="Arial"/>
              </a:rPr>
              <a:t>Tap 'Majestic' (₹25) or 'Koramangala' on the Pareto Grid. Experience spatial thumb targeting.</a:t>
            </a:r>
          </a:p>
        </p:txBody>
      </p:sp>
      <p:sp>
        <p:nvSpPr>
          <p:cNvPr id="20" name="Rectangle 19"/>
          <p:cNvSpPr/>
          <p:nvPr/>
        </p:nvSpPr>
        <p:spPr>
          <a:xfrm>
            <a:off x="594360" y="3529584"/>
            <a:ext cx="3718407" cy="960120"/>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04088" y="3639312"/>
            <a:ext cx="320040" cy="320040"/>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 y="3657600"/>
            <a:ext cx="320040" cy="274320"/>
          </a:xfrm>
          <a:prstGeom prst="rect">
            <a:avLst/>
          </a:prstGeom>
          <a:noFill/>
        </p:spPr>
        <p:txBody>
          <a:bodyPr wrap="square">
            <a:spAutoFit/>
          </a:bodyPr>
          <a:lstStyle/>
          <a:p>
            <a:pPr algn="ctr"/>
            <a:r>
              <a:rPr sz="1200" b="1" i="0">
                <a:solidFill>
                  <a:srgbClr val="00E676"/>
                </a:solidFill>
                <a:latin typeface="Arial"/>
              </a:rPr>
              <a:t>3</a:t>
            </a:r>
          </a:p>
        </p:txBody>
      </p:sp>
      <p:sp>
        <p:nvSpPr>
          <p:cNvPr id="23" name="TextBox 22"/>
          <p:cNvSpPr txBox="1"/>
          <p:nvPr/>
        </p:nvSpPr>
        <p:spPr>
          <a:xfrm>
            <a:off x="1097280" y="3639312"/>
            <a:ext cx="3096615" cy="228600"/>
          </a:xfrm>
          <a:prstGeom prst="rect">
            <a:avLst/>
          </a:prstGeom>
          <a:noFill/>
        </p:spPr>
        <p:txBody>
          <a:bodyPr wrap="square">
            <a:spAutoFit/>
          </a:bodyPr>
          <a:lstStyle/>
          <a:p>
            <a:pPr algn="l"/>
            <a:r>
              <a:rPr sz="950" b="1" i="0">
                <a:solidFill>
                  <a:srgbClr val="FFFFFF"/>
                </a:solidFill>
                <a:latin typeface="Arial"/>
              </a:rPr>
              <a:t>Issue 3-Pax Ticket</a:t>
            </a:r>
          </a:p>
        </p:txBody>
      </p:sp>
      <p:sp>
        <p:nvSpPr>
          <p:cNvPr id="24" name="TextBox 23"/>
          <p:cNvSpPr txBox="1"/>
          <p:nvPr/>
        </p:nvSpPr>
        <p:spPr>
          <a:xfrm>
            <a:off x="1097280" y="3877056"/>
            <a:ext cx="3096615" cy="548640"/>
          </a:xfrm>
          <a:prstGeom prst="rect">
            <a:avLst/>
          </a:prstGeom>
          <a:noFill/>
        </p:spPr>
        <p:txBody>
          <a:bodyPr wrap="square">
            <a:spAutoFit/>
          </a:bodyPr>
          <a:lstStyle/>
          <a:p>
            <a:pPr algn="l"/>
            <a:r>
              <a:rPr sz="800" b="0" i="0">
                <a:solidFill>
                  <a:srgbClr val="9E9EB0"/>
                </a:solidFill>
                <a:latin typeface="Arial"/>
              </a:rPr>
              <a:t>Select 3 passengers and tap the green CTA. Observe the integrated live stopwatch timer.</a:t>
            </a:r>
          </a:p>
        </p:txBody>
      </p:sp>
      <p:sp>
        <p:nvSpPr>
          <p:cNvPr id="25" name="Rectangle 24"/>
          <p:cNvSpPr/>
          <p:nvPr/>
        </p:nvSpPr>
        <p:spPr>
          <a:xfrm>
            <a:off x="594360" y="4663440"/>
            <a:ext cx="3718407" cy="1508760"/>
          </a:xfrm>
          <a:prstGeom prst="rect">
            <a:avLst/>
          </a:prstGeom>
          <a:solidFill>
            <a:srgbClr val="061A10"/>
          </a:solidFill>
          <a:ln w="9525">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 y="4663440"/>
            <a:ext cx="3718407" cy="3175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754880"/>
            <a:ext cx="3444087" cy="228600"/>
          </a:xfrm>
          <a:prstGeom prst="rect">
            <a:avLst/>
          </a:prstGeom>
          <a:noFill/>
        </p:spPr>
        <p:txBody>
          <a:bodyPr wrap="square">
            <a:spAutoFit/>
          </a:bodyPr>
          <a:lstStyle/>
          <a:p>
            <a:pPr algn="l"/>
            <a:r>
              <a:rPr sz="900" b="1" i="0">
                <a:solidFill>
                  <a:srgbClr val="00E676"/>
                </a:solidFill>
                <a:latin typeface="Arial"/>
              </a:rPr>
              <a:t>⏱️ SPEED BENCHMARK VERIFICATION</a:t>
            </a:r>
          </a:p>
        </p:txBody>
      </p:sp>
      <p:sp>
        <p:nvSpPr>
          <p:cNvPr id="28" name="TextBox 27"/>
          <p:cNvSpPr txBox="1"/>
          <p:nvPr/>
        </p:nvSpPr>
        <p:spPr>
          <a:xfrm>
            <a:off x="731520" y="5029200"/>
            <a:ext cx="3444087" cy="1051560"/>
          </a:xfrm>
          <a:prstGeom prst="rect">
            <a:avLst/>
          </a:prstGeom>
          <a:noFill/>
        </p:spPr>
        <p:txBody>
          <a:bodyPr wrap="square">
            <a:spAutoFit/>
          </a:bodyPr>
          <a:lstStyle/>
          <a:p>
            <a:pPr algn="l"/>
            <a:r>
              <a:rPr sz="850" b="0" i="0">
                <a:solidFill>
                  <a:srgbClr val="F0F0F5"/>
                </a:solidFill>
                <a:latin typeface="Arial"/>
              </a:rPr>
              <a:t>• Target SLA: Under 4.0 seconds (3 passengers, 1 destination)
• Measured Prototype Average: ~2.1 seconds
• Net Efficiency Gain: 47% faster than assignment target
• Built-in Flow Timer: Measures exact real-time interaction speed</a:t>
            </a:r>
          </a:p>
        </p:txBody>
      </p:sp>
      <p:sp>
        <p:nvSpPr>
          <p:cNvPr id="29" name="TextBox 28"/>
          <p:cNvSpPr txBox="1"/>
          <p:nvPr/>
        </p:nvSpPr>
        <p:spPr>
          <a:xfrm>
            <a:off x="7878927" y="1078992"/>
            <a:ext cx="3718407" cy="228600"/>
          </a:xfrm>
          <a:prstGeom prst="rect">
            <a:avLst/>
          </a:prstGeom>
          <a:noFill/>
        </p:spPr>
        <p:txBody>
          <a:bodyPr wrap="square">
            <a:spAutoFit/>
          </a:bodyPr>
          <a:lstStyle/>
          <a:p>
            <a:pPr algn="l"/>
            <a:r>
              <a:rPr sz="950" b="1" i="0">
                <a:solidFill>
                  <a:srgbClr val="448AFF"/>
                </a:solidFill>
                <a:latin typeface="Arial"/>
              </a:rPr>
              <a:t>PROTOTYPE CAPABILITIES &amp; ARCHITECTURE</a:t>
            </a:r>
          </a:p>
        </p:txBody>
      </p:sp>
      <p:sp>
        <p:nvSpPr>
          <p:cNvPr id="30" name="Rectangle 29"/>
          <p:cNvSpPr/>
          <p:nvPr/>
        </p:nvSpPr>
        <p:spPr>
          <a:xfrm>
            <a:off x="7878927" y="1371600"/>
            <a:ext cx="3718407" cy="694944"/>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970367" y="1481328"/>
            <a:ext cx="292608" cy="292608"/>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70367" y="1499616"/>
            <a:ext cx="292608" cy="256032"/>
          </a:xfrm>
          <a:prstGeom prst="rect">
            <a:avLst/>
          </a:prstGeom>
          <a:noFill/>
        </p:spPr>
        <p:txBody>
          <a:bodyPr wrap="square">
            <a:spAutoFit/>
          </a:bodyPr>
          <a:lstStyle/>
          <a:p>
            <a:pPr algn="ctr"/>
            <a:r>
              <a:rPr sz="1200" b="0" i="0">
                <a:solidFill>
                  <a:srgbClr val="F0F0F5"/>
                </a:solidFill>
                <a:latin typeface="Arial"/>
              </a:rPr>
              <a:t>⚡</a:t>
            </a:r>
          </a:p>
        </p:txBody>
      </p:sp>
      <p:sp>
        <p:nvSpPr>
          <p:cNvPr id="33" name="TextBox 32"/>
          <p:cNvSpPr txBox="1"/>
          <p:nvPr/>
        </p:nvSpPr>
        <p:spPr>
          <a:xfrm>
            <a:off x="8336127" y="1463040"/>
            <a:ext cx="3169767" cy="219456"/>
          </a:xfrm>
          <a:prstGeom prst="rect">
            <a:avLst/>
          </a:prstGeom>
          <a:noFill/>
        </p:spPr>
        <p:txBody>
          <a:bodyPr wrap="square">
            <a:spAutoFit/>
          </a:bodyPr>
          <a:lstStyle/>
          <a:p>
            <a:pPr algn="l"/>
            <a:r>
              <a:rPr sz="880" b="1" i="0">
                <a:solidFill>
                  <a:srgbClr val="FFFFFF"/>
                </a:solidFill>
                <a:latin typeface="Arial"/>
              </a:rPr>
              <a:t>1-Tap Quick-Issue Mode</a:t>
            </a:r>
          </a:p>
        </p:txBody>
      </p:sp>
      <p:sp>
        <p:nvSpPr>
          <p:cNvPr id="34" name="TextBox 33"/>
          <p:cNvSpPr txBox="1"/>
          <p:nvPr/>
        </p:nvSpPr>
        <p:spPr>
          <a:xfrm>
            <a:off x="8336127" y="1682496"/>
            <a:ext cx="3169767" cy="320040"/>
          </a:xfrm>
          <a:prstGeom prst="rect">
            <a:avLst/>
          </a:prstGeom>
          <a:noFill/>
        </p:spPr>
        <p:txBody>
          <a:bodyPr wrap="square">
            <a:spAutoFit/>
          </a:bodyPr>
          <a:lstStyle/>
          <a:p>
            <a:pPr algn="l"/>
            <a:r>
              <a:rPr sz="780" b="0" i="0">
                <a:solidFill>
                  <a:srgbClr val="9E9EB0"/>
                </a:solidFill>
                <a:latin typeface="Arial"/>
              </a:rPr>
              <a:t>Enable in demo bar to test instant 1-passenger ticketing.</a:t>
            </a:r>
          </a:p>
        </p:txBody>
      </p:sp>
      <p:sp>
        <p:nvSpPr>
          <p:cNvPr id="35" name="Rectangle 34"/>
          <p:cNvSpPr/>
          <p:nvPr/>
        </p:nvSpPr>
        <p:spPr>
          <a:xfrm>
            <a:off x="7878927" y="2139696"/>
            <a:ext cx="3718407" cy="694944"/>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970367" y="2249424"/>
            <a:ext cx="292608" cy="292608"/>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70367" y="2267712"/>
            <a:ext cx="292608" cy="256032"/>
          </a:xfrm>
          <a:prstGeom prst="rect">
            <a:avLst/>
          </a:prstGeom>
          <a:noFill/>
        </p:spPr>
        <p:txBody>
          <a:bodyPr wrap="square">
            <a:spAutoFit/>
          </a:bodyPr>
          <a:lstStyle/>
          <a:p>
            <a:pPr algn="ctr"/>
            <a:r>
              <a:rPr sz="1200" b="0" i="0">
                <a:solidFill>
                  <a:srgbClr val="F0F0F5"/>
                </a:solidFill>
                <a:latin typeface="Arial"/>
              </a:rPr>
              <a:t>☀️</a:t>
            </a:r>
          </a:p>
        </p:txBody>
      </p:sp>
      <p:sp>
        <p:nvSpPr>
          <p:cNvPr id="38" name="TextBox 37"/>
          <p:cNvSpPr txBox="1"/>
          <p:nvPr/>
        </p:nvSpPr>
        <p:spPr>
          <a:xfrm>
            <a:off x="8336127" y="2231136"/>
            <a:ext cx="3169767" cy="219456"/>
          </a:xfrm>
          <a:prstGeom prst="rect">
            <a:avLst/>
          </a:prstGeom>
          <a:noFill/>
        </p:spPr>
        <p:txBody>
          <a:bodyPr wrap="square">
            <a:spAutoFit/>
          </a:bodyPr>
          <a:lstStyle/>
          <a:p>
            <a:pPr algn="l"/>
            <a:r>
              <a:rPr sz="880" b="1" i="0">
                <a:solidFill>
                  <a:srgbClr val="FFFFFF"/>
                </a:solidFill>
                <a:latin typeface="Arial"/>
              </a:rPr>
              <a:t>Sunlight Display Mode</a:t>
            </a:r>
          </a:p>
        </p:txBody>
      </p:sp>
      <p:sp>
        <p:nvSpPr>
          <p:cNvPr id="39" name="TextBox 38"/>
          <p:cNvSpPr txBox="1"/>
          <p:nvPr/>
        </p:nvSpPr>
        <p:spPr>
          <a:xfrm>
            <a:off x="8336127" y="2450592"/>
            <a:ext cx="3169767" cy="320040"/>
          </a:xfrm>
          <a:prstGeom prst="rect">
            <a:avLst/>
          </a:prstGeom>
          <a:noFill/>
        </p:spPr>
        <p:txBody>
          <a:bodyPr wrap="square">
            <a:spAutoFit/>
          </a:bodyPr>
          <a:lstStyle/>
          <a:p>
            <a:pPr algn="l"/>
            <a:r>
              <a:rPr sz="780" b="0" i="0">
                <a:solidFill>
                  <a:srgbClr val="9E9EB0"/>
                </a:solidFill>
                <a:latin typeface="Arial"/>
              </a:rPr>
              <a:t>Switch to high-contrast white theme for outdoor readability.</a:t>
            </a:r>
          </a:p>
        </p:txBody>
      </p:sp>
      <p:sp>
        <p:nvSpPr>
          <p:cNvPr id="40" name="Rectangle 39"/>
          <p:cNvSpPr/>
          <p:nvPr/>
        </p:nvSpPr>
        <p:spPr>
          <a:xfrm>
            <a:off x="7878927" y="2907792"/>
            <a:ext cx="3718407" cy="694944"/>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970367" y="3017520"/>
            <a:ext cx="292608" cy="292608"/>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70367" y="3035808"/>
            <a:ext cx="292608" cy="256032"/>
          </a:xfrm>
          <a:prstGeom prst="rect">
            <a:avLst/>
          </a:prstGeom>
          <a:noFill/>
        </p:spPr>
        <p:txBody>
          <a:bodyPr wrap="square">
            <a:spAutoFit/>
          </a:bodyPr>
          <a:lstStyle/>
          <a:p>
            <a:pPr algn="ctr"/>
            <a:r>
              <a:rPr sz="1200" b="0" i="0">
                <a:solidFill>
                  <a:srgbClr val="F0F0F5"/>
                </a:solidFill>
                <a:latin typeface="Arial"/>
              </a:rPr>
              <a:t>▶️</a:t>
            </a:r>
          </a:p>
        </p:txBody>
      </p:sp>
      <p:sp>
        <p:nvSpPr>
          <p:cNvPr id="43" name="TextBox 42"/>
          <p:cNvSpPr txBox="1"/>
          <p:nvPr/>
        </p:nvSpPr>
        <p:spPr>
          <a:xfrm>
            <a:off x="8336127" y="2999232"/>
            <a:ext cx="3169767" cy="219456"/>
          </a:xfrm>
          <a:prstGeom prst="rect">
            <a:avLst/>
          </a:prstGeom>
          <a:noFill/>
        </p:spPr>
        <p:txBody>
          <a:bodyPr wrap="square">
            <a:spAutoFit/>
          </a:bodyPr>
          <a:lstStyle/>
          <a:p>
            <a:pPr algn="l"/>
            <a:r>
              <a:rPr sz="880" b="1" i="0">
                <a:solidFill>
                  <a:srgbClr val="FFFFFF"/>
                </a:solidFill>
                <a:latin typeface="Arial"/>
              </a:rPr>
              <a:t>Guided Auto-Demo</a:t>
            </a:r>
          </a:p>
        </p:txBody>
      </p:sp>
      <p:sp>
        <p:nvSpPr>
          <p:cNvPr id="44" name="TextBox 43"/>
          <p:cNvSpPr txBox="1"/>
          <p:nvPr/>
        </p:nvSpPr>
        <p:spPr>
          <a:xfrm>
            <a:off x="8336127" y="3218688"/>
            <a:ext cx="3169767" cy="320040"/>
          </a:xfrm>
          <a:prstGeom prst="rect">
            <a:avLst/>
          </a:prstGeom>
          <a:noFill/>
        </p:spPr>
        <p:txBody>
          <a:bodyPr wrap="square">
            <a:spAutoFit/>
          </a:bodyPr>
          <a:lstStyle/>
          <a:p>
            <a:pPr algn="l"/>
            <a:r>
              <a:rPr sz="780" b="0" i="0">
                <a:solidFill>
                  <a:srgbClr val="9E9EB0"/>
                </a:solidFill>
                <a:latin typeface="Arial"/>
              </a:rPr>
              <a:t>Watch automated 3-passenger ticketing flow with visual highlights.</a:t>
            </a:r>
          </a:p>
        </p:txBody>
      </p:sp>
      <p:sp>
        <p:nvSpPr>
          <p:cNvPr id="45" name="Rectangle 44"/>
          <p:cNvSpPr/>
          <p:nvPr/>
        </p:nvSpPr>
        <p:spPr>
          <a:xfrm>
            <a:off x="7878927" y="3675888"/>
            <a:ext cx="3718407" cy="694944"/>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970367" y="3785616"/>
            <a:ext cx="292608" cy="292608"/>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970367" y="3803904"/>
            <a:ext cx="292608" cy="256032"/>
          </a:xfrm>
          <a:prstGeom prst="rect">
            <a:avLst/>
          </a:prstGeom>
          <a:noFill/>
        </p:spPr>
        <p:txBody>
          <a:bodyPr wrap="square">
            <a:spAutoFit/>
          </a:bodyPr>
          <a:lstStyle/>
          <a:p>
            <a:pPr algn="ctr"/>
            <a:r>
              <a:rPr sz="1200" b="0" i="0">
                <a:solidFill>
                  <a:srgbClr val="F0F0F5"/>
                </a:solidFill>
                <a:latin typeface="Arial"/>
              </a:rPr>
              <a:t>⏱️</a:t>
            </a:r>
          </a:p>
        </p:txBody>
      </p:sp>
      <p:sp>
        <p:nvSpPr>
          <p:cNvPr id="48" name="TextBox 47"/>
          <p:cNvSpPr txBox="1"/>
          <p:nvPr/>
        </p:nvSpPr>
        <p:spPr>
          <a:xfrm>
            <a:off x="8336127" y="3767328"/>
            <a:ext cx="3169767" cy="219456"/>
          </a:xfrm>
          <a:prstGeom prst="rect">
            <a:avLst/>
          </a:prstGeom>
          <a:noFill/>
        </p:spPr>
        <p:txBody>
          <a:bodyPr wrap="square">
            <a:spAutoFit/>
          </a:bodyPr>
          <a:lstStyle/>
          <a:p>
            <a:pPr algn="l"/>
            <a:r>
              <a:rPr sz="880" b="1" i="0">
                <a:solidFill>
                  <a:srgbClr val="FFFFFF"/>
                </a:solidFill>
                <a:latin typeface="Arial"/>
              </a:rPr>
              <a:t>Integrated Flow Timer</a:t>
            </a:r>
          </a:p>
        </p:txBody>
      </p:sp>
      <p:sp>
        <p:nvSpPr>
          <p:cNvPr id="49" name="TextBox 48"/>
          <p:cNvSpPr txBox="1"/>
          <p:nvPr/>
        </p:nvSpPr>
        <p:spPr>
          <a:xfrm>
            <a:off x="8336127" y="3986784"/>
            <a:ext cx="3169767" cy="320040"/>
          </a:xfrm>
          <a:prstGeom prst="rect">
            <a:avLst/>
          </a:prstGeom>
          <a:noFill/>
        </p:spPr>
        <p:txBody>
          <a:bodyPr wrap="square">
            <a:spAutoFit/>
          </a:bodyPr>
          <a:lstStyle/>
          <a:p>
            <a:pPr algn="l"/>
            <a:r>
              <a:rPr sz="780" b="0" i="0">
                <a:solidFill>
                  <a:srgbClr val="9E9EB0"/>
                </a:solidFill>
                <a:latin typeface="Arial"/>
              </a:rPr>
              <a:t>Real-time stopwatch records exact duration from tap to issuance.</a:t>
            </a:r>
          </a:p>
        </p:txBody>
      </p:sp>
      <p:sp>
        <p:nvSpPr>
          <p:cNvPr id="50" name="Rectangle 49"/>
          <p:cNvSpPr/>
          <p:nvPr/>
        </p:nvSpPr>
        <p:spPr>
          <a:xfrm>
            <a:off x="7878927" y="4443984"/>
            <a:ext cx="3718407" cy="694944"/>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970367" y="4553712"/>
            <a:ext cx="292608" cy="292608"/>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970367" y="4572000"/>
            <a:ext cx="292608" cy="256032"/>
          </a:xfrm>
          <a:prstGeom prst="rect">
            <a:avLst/>
          </a:prstGeom>
          <a:noFill/>
        </p:spPr>
        <p:txBody>
          <a:bodyPr wrap="square">
            <a:spAutoFit/>
          </a:bodyPr>
          <a:lstStyle/>
          <a:p>
            <a:pPr algn="ctr"/>
            <a:r>
              <a:rPr sz="1200" b="0" i="0">
                <a:solidFill>
                  <a:srgbClr val="F0F0F5"/>
                </a:solidFill>
                <a:latin typeface="Arial"/>
              </a:rPr>
              <a:t>↩</a:t>
            </a:r>
          </a:p>
        </p:txBody>
      </p:sp>
      <p:sp>
        <p:nvSpPr>
          <p:cNvPr id="53" name="TextBox 52"/>
          <p:cNvSpPr txBox="1"/>
          <p:nvPr/>
        </p:nvSpPr>
        <p:spPr>
          <a:xfrm>
            <a:off x="8336127" y="4535424"/>
            <a:ext cx="3169767" cy="219456"/>
          </a:xfrm>
          <a:prstGeom prst="rect">
            <a:avLst/>
          </a:prstGeom>
          <a:noFill/>
        </p:spPr>
        <p:txBody>
          <a:bodyPr wrap="square">
            <a:spAutoFit/>
          </a:bodyPr>
          <a:lstStyle/>
          <a:p>
            <a:pPr algn="l"/>
            <a:r>
              <a:rPr sz="880" b="1" i="0">
                <a:solidFill>
                  <a:srgbClr val="FFFFFF"/>
                </a:solidFill>
                <a:latin typeface="Arial"/>
              </a:rPr>
              <a:t>Undo &amp; Repeat Engines</a:t>
            </a:r>
          </a:p>
        </p:txBody>
      </p:sp>
      <p:sp>
        <p:nvSpPr>
          <p:cNvPr id="54" name="TextBox 53"/>
          <p:cNvSpPr txBox="1"/>
          <p:nvPr/>
        </p:nvSpPr>
        <p:spPr>
          <a:xfrm>
            <a:off x="8336127" y="4754880"/>
            <a:ext cx="3169767" cy="320040"/>
          </a:xfrm>
          <a:prstGeom prst="rect">
            <a:avLst/>
          </a:prstGeom>
          <a:noFill/>
        </p:spPr>
        <p:txBody>
          <a:bodyPr wrap="square">
            <a:spAutoFit/>
          </a:bodyPr>
          <a:lstStyle/>
          <a:p>
            <a:pPr algn="l"/>
            <a:r>
              <a:rPr sz="780" b="0" i="0">
                <a:solidFill>
                  <a:srgbClr val="9E9EB0"/>
                </a:solidFill>
                <a:latin typeface="Arial"/>
              </a:rPr>
              <a:t>Interactive rollback and one-tap re-issuance functionality.</a:t>
            </a:r>
          </a:p>
        </p:txBody>
      </p:sp>
      <p:sp>
        <p:nvSpPr>
          <p:cNvPr id="55" name="Rectangle 54"/>
          <p:cNvSpPr/>
          <p:nvPr/>
        </p:nvSpPr>
        <p:spPr>
          <a:xfrm>
            <a:off x="7878927" y="5257800"/>
            <a:ext cx="3718407" cy="914400"/>
          </a:xfrm>
          <a:prstGeom prst="rect">
            <a:avLst/>
          </a:prstGeom>
          <a:solidFill>
            <a:srgbClr val="181832"/>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016087" y="5321808"/>
            <a:ext cx="3444087" cy="201168"/>
          </a:xfrm>
          <a:prstGeom prst="rect">
            <a:avLst/>
          </a:prstGeom>
          <a:noFill/>
        </p:spPr>
        <p:txBody>
          <a:bodyPr wrap="square">
            <a:spAutoFit/>
          </a:bodyPr>
          <a:lstStyle/>
          <a:p>
            <a:pPr algn="l"/>
            <a:r>
              <a:rPr sz="800" b="1" i="0">
                <a:solidFill>
                  <a:srgbClr val="9E9EB0"/>
                </a:solidFill>
                <a:latin typeface="Arial"/>
              </a:rPr>
              <a:t>Zero-Dependency Production Architecture:</a:t>
            </a:r>
          </a:p>
        </p:txBody>
      </p:sp>
      <p:sp>
        <p:nvSpPr>
          <p:cNvPr id="57" name="TextBox 56"/>
          <p:cNvSpPr txBox="1"/>
          <p:nvPr/>
        </p:nvSpPr>
        <p:spPr>
          <a:xfrm>
            <a:off x="8016087" y="5541264"/>
            <a:ext cx="3444087" cy="548640"/>
          </a:xfrm>
          <a:prstGeom prst="rect">
            <a:avLst/>
          </a:prstGeom>
          <a:noFill/>
        </p:spPr>
        <p:txBody>
          <a:bodyPr wrap="square">
            <a:spAutoFit/>
          </a:bodyPr>
          <a:lstStyle/>
          <a:p>
            <a:pPr algn="l"/>
            <a:r>
              <a:rPr sz="800" b="0" i="0">
                <a:solidFill>
                  <a:srgbClr val="F0F0F5"/>
                </a:solidFill>
                <a:latin typeface="Arial"/>
              </a:rPr>
              <a:t>Built with pure HTML5, CSS3, and Vanilla JavaScript. No node modules, no build steps, zero server maintenance. Deployed globally on GitHub Pages.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594360" y="365760"/>
            <a:ext cx="11002975" cy="502920"/>
          </a:xfrm>
          <a:prstGeom prst="rect">
            <a:avLst/>
          </a:prstGeom>
          <a:noFill/>
        </p:spPr>
        <p:txBody>
          <a:bodyPr wrap="square">
            <a:spAutoFit/>
          </a:bodyPr>
          <a:lstStyle/>
          <a:p>
            <a:pPr algn="l"/>
            <a:r>
              <a:rPr sz="2300" b="1" i="0">
                <a:solidFill>
                  <a:srgbClr val="FFFFFF"/>
                </a:solidFill>
                <a:latin typeface="Arial"/>
              </a:rPr>
              <a:t>This is v2. Here's what v3 looks like.</a:t>
            </a:r>
          </a:p>
        </p:txBody>
      </p:sp>
      <p:sp>
        <p:nvSpPr>
          <p:cNvPr id="3" name="Rectangle 2"/>
          <p:cNvSpPr/>
          <p:nvPr/>
        </p:nvSpPr>
        <p:spPr>
          <a:xfrm>
            <a:off x="594360" y="896112"/>
            <a:ext cx="2011680" cy="3810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865815" y="6473952"/>
            <a:ext cx="731520" cy="274320"/>
          </a:xfrm>
          <a:prstGeom prst="rect">
            <a:avLst/>
          </a:prstGeom>
          <a:noFill/>
        </p:spPr>
        <p:txBody>
          <a:bodyPr wrap="square">
            <a:spAutoFit/>
          </a:bodyPr>
          <a:lstStyle/>
          <a:p>
            <a:pPr algn="r"/>
            <a:r>
              <a:rPr sz="800" b="0" i="0">
                <a:solidFill>
                  <a:srgbClr val="9E9EB0"/>
                </a:solidFill>
                <a:latin typeface="Arial"/>
              </a:rPr>
              <a:t>9 / 10</a:t>
            </a:r>
          </a:p>
        </p:txBody>
      </p:sp>
      <p:sp>
        <p:nvSpPr>
          <p:cNvPr id="5" name="Rectangle 4"/>
          <p:cNvSpPr/>
          <p:nvPr/>
        </p:nvSpPr>
        <p:spPr>
          <a:xfrm>
            <a:off x="594360" y="1645920"/>
            <a:ext cx="11002975" cy="25400"/>
          </a:xfrm>
          <a:prstGeom prst="rect">
            <a:avLst/>
          </a:prstGeom>
          <a:solidFill>
            <a:srgbClr val="242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30069" y="1536192"/>
            <a:ext cx="274320" cy="274320"/>
          </a:xfrm>
          <a:prstGeom prst="rect">
            <a:avLst/>
          </a:prstGeom>
          <a:solidFill>
            <a:srgbClr val="448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051560"/>
            <a:ext cx="3545738" cy="438912"/>
          </a:xfrm>
          <a:prstGeom prst="rect">
            <a:avLst/>
          </a:prstGeom>
          <a:solidFill>
            <a:srgbClr val="181832"/>
          </a:solidFill>
          <a:ln w="9525">
            <a:solidFill>
              <a:srgbClr val="448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115568"/>
            <a:ext cx="3545738" cy="274320"/>
          </a:xfrm>
          <a:prstGeom prst="rect">
            <a:avLst/>
          </a:prstGeom>
          <a:noFill/>
        </p:spPr>
        <p:txBody>
          <a:bodyPr wrap="square">
            <a:spAutoFit/>
          </a:bodyPr>
          <a:lstStyle/>
          <a:p>
            <a:pPr algn="ctr"/>
            <a:r>
              <a:rPr sz="950" b="1" i="0">
                <a:solidFill>
                  <a:srgbClr val="448AFF"/>
                </a:solidFill>
                <a:latin typeface="Arial"/>
              </a:rPr>
              <a:t>NEAR TERM (1–2 Sprints)</a:t>
            </a:r>
          </a:p>
        </p:txBody>
      </p:sp>
      <p:sp>
        <p:nvSpPr>
          <p:cNvPr id="9" name="Rectangle 8"/>
          <p:cNvSpPr/>
          <p:nvPr/>
        </p:nvSpPr>
        <p:spPr>
          <a:xfrm>
            <a:off x="594360" y="1920240"/>
            <a:ext cx="3545738" cy="2743200"/>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1920240"/>
            <a:ext cx="3545738" cy="31750"/>
          </a:xfrm>
          <a:prstGeom prst="rect">
            <a:avLst/>
          </a:prstGeom>
          <a:solidFill>
            <a:srgbClr val="448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04088" y="2057400"/>
            <a:ext cx="3326282" cy="731520"/>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2112264"/>
            <a:ext cx="3216554" cy="219456"/>
          </a:xfrm>
          <a:prstGeom prst="rect">
            <a:avLst/>
          </a:prstGeom>
          <a:noFill/>
        </p:spPr>
        <p:txBody>
          <a:bodyPr wrap="square">
            <a:spAutoFit/>
          </a:bodyPr>
          <a:lstStyle/>
          <a:p>
            <a:pPr algn="l"/>
            <a:r>
              <a:rPr sz="850" b="1" i="0">
                <a:solidFill>
                  <a:srgbClr val="FFFFFF"/>
                </a:solidFill>
                <a:latin typeface="Arial"/>
              </a:rPr>
              <a:t>🌐 Kannada &amp; Hindi Localization</a:t>
            </a:r>
          </a:p>
        </p:txBody>
      </p:sp>
      <p:sp>
        <p:nvSpPr>
          <p:cNvPr id="13" name="TextBox 12"/>
          <p:cNvSpPr txBox="1"/>
          <p:nvPr/>
        </p:nvSpPr>
        <p:spPr>
          <a:xfrm>
            <a:off x="758952" y="2313432"/>
            <a:ext cx="3216554" cy="438912"/>
          </a:xfrm>
          <a:prstGeom prst="rect">
            <a:avLst/>
          </a:prstGeom>
          <a:noFill/>
        </p:spPr>
        <p:txBody>
          <a:bodyPr wrap="square">
            <a:spAutoFit/>
          </a:bodyPr>
          <a:lstStyle/>
          <a:p>
            <a:pPr algn="l"/>
            <a:r>
              <a:rPr sz="750" b="0" i="0">
                <a:solidFill>
                  <a:srgbClr val="9E9EB0"/>
                </a:solidFill>
                <a:latin typeface="Arial"/>
              </a:rPr>
              <a:t>Implement full dual-language interface aligned with BMTC's primary regional workforce.</a:t>
            </a:r>
          </a:p>
        </p:txBody>
      </p:sp>
      <p:sp>
        <p:nvSpPr>
          <p:cNvPr id="14" name="Rectangle 13"/>
          <p:cNvSpPr/>
          <p:nvPr/>
        </p:nvSpPr>
        <p:spPr>
          <a:xfrm>
            <a:off x="704088" y="2862072"/>
            <a:ext cx="3326282" cy="731520"/>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2916936"/>
            <a:ext cx="3216554" cy="219456"/>
          </a:xfrm>
          <a:prstGeom prst="rect">
            <a:avLst/>
          </a:prstGeom>
          <a:noFill/>
        </p:spPr>
        <p:txBody>
          <a:bodyPr wrap="square">
            <a:spAutoFit/>
          </a:bodyPr>
          <a:lstStyle/>
          <a:p>
            <a:pPr algn="l"/>
            <a:r>
              <a:rPr sz="850" b="1" i="0">
                <a:solidFill>
                  <a:srgbClr val="FFFFFF"/>
                </a:solidFill>
                <a:latin typeface="Arial"/>
              </a:rPr>
              <a:t>♿ WCAG AA Accessibility Audit</a:t>
            </a:r>
          </a:p>
        </p:txBody>
      </p:sp>
      <p:sp>
        <p:nvSpPr>
          <p:cNvPr id="16" name="TextBox 15"/>
          <p:cNvSpPr txBox="1"/>
          <p:nvPr/>
        </p:nvSpPr>
        <p:spPr>
          <a:xfrm>
            <a:off x="758952" y="3118104"/>
            <a:ext cx="3216554" cy="438912"/>
          </a:xfrm>
          <a:prstGeom prst="rect">
            <a:avLst/>
          </a:prstGeom>
          <a:noFill/>
        </p:spPr>
        <p:txBody>
          <a:bodyPr wrap="square">
            <a:spAutoFit/>
          </a:bodyPr>
          <a:lstStyle/>
          <a:p>
            <a:pPr algn="l"/>
            <a:r>
              <a:rPr sz="750" b="0" i="0">
                <a:solidFill>
                  <a:srgbClr val="9E9EB0"/>
                </a:solidFill>
                <a:latin typeface="Arial"/>
              </a:rPr>
              <a:t>Add complete screen-reader aria labels, focus ring navigation, and 4.5:1 contrast compliance.</a:t>
            </a:r>
          </a:p>
        </p:txBody>
      </p:sp>
      <p:sp>
        <p:nvSpPr>
          <p:cNvPr id="17" name="Rectangle 16"/>
          <p:cNvSpPr/>
          <p:nvPr/>
        </p:nvSpPr>
        <p:spPr>
          <a:xfrm>
            <a:off x="704088" y="3666744"/>
            <a:ext cx="3326282" cy="731520"/>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3721608"/>
            <a:ext cx="3216554" cy="219456"/>
          </a:xfrm>
          <a:prstGeom prst="rect">
            <a:avLst/>
          </a:prstGeom>
          <a:noFill/>
        </p:spPr>
        <p:txBody>
          <a:bodyPr wrap="square">
            <a:spAutoFit/>
          </a:bodyPr>
          <a:lstStyle/>
          <a:p>
            <a:pPr algn="l"/>
            <a:r>
              <a:rPr sz="850" b="1" i="0">
                <a:solidFill>
                  <a:srgbClr val="FFFFFF"/>
                </a:solidFill>
                <a:latin typeface="Arial"/>
              </a:rPr>
              <a:t>☀️ Auto-Sunlight Sensor Integration</a:t>
            </a:r>
          </a:p>
        </p:txBody>
      </p:sp>
      <p:sp>
        <p:nvSpPr>
          <p:cNvPr id="19" name="TextBox 18"/>
          <p:cNvSpPr txBox="1"/>
          <p:nvPr/>
        </p:nvSpPr>
        <p:spPr>
          <a:xfrm>
            <a:off x="758952" y="3922776"/>
            <a:ext cx="3216554" cy="438912"/>
          </a:xfrm>
          <a:prstGeom prst="rect">
            <a:avLst/>
          </a:prstGeom>
          <a:noFill/>
        </p:spPr>
        <p:txBody>
          <a:bodyPr wrap="square">
            <a:spAutoFit/>
          </a:bodyPr>
          <a:lstStyle/>
          <a:p>
            <a:pPr algn="l"/>
            <a:r>
              <a:rPr sz="750" b="0" i="0">
                <a:solidFill>
                  <a:srgbClr val="9E9EB0"/>
                </a:solidFill>
                <a:latin typeface="Arial"/>
              </a:rPr>
              <a:t>Connect W3C Ambient Light Sensor API to trigger Sunlight Mode automatically above 10,000 lux.</a:t>
            </a:r>
          </a:p>
        </p:txBody>
      </p:sp>
      <p:sp>
        <p:nvSpPr>
          <p:cNvPr id="20" name="Rectangle 19"/>
          <p:cNvSpPr/>
          <p:nvPr/>
        </p:nvSpPr>
        <p:spPr>
          <a:xfrm>
            <a:off x="5958687" y="1536192"/>
            <a:ext cx="274320" cy="27432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22978" y="1051560"/>
            <a:ext cx="3545738" cy="438912"/>
          </a:xfrm>
          <a:prstGeom prst="rect">
            <a:avLst/>
          </a:prstGeom>
          <a:solidFill>
            <a:srgbClr val="181832"/>
          </a:solidFill>
          <a:ln w="9525">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22978" y="1115568"/>
            <a:ext cx="3545738" cy="274320"/>
          </a:xfrm>
          <a:prstGeom prst="rect">
            <a:avLst/>
          </a:prstGeom>
          <a:noFill/>
        </p:spPr>
        <p:txBody>
          <a:bodyPr wrap="square">
            <a:spAutoFit/>
          </a:bodyPr>
          <a:lstStyle/>
          <a:p>
            <a:pPr algn="ctr"/>
            <a:r>
              <a:rPr sz="950" b="1" i="0">
                <a:solidFill>
                  <a:srgbClr val="00E676"/>
                </a:solidFill>
                <a:latin typeface="Arial"/>
              </a:rPr>
              <a:t>MEDIUM TERM (1 Quarter)</a:t>
            </a:r>
          </a:p>
        </p:txBody>
      </p:sp>
      <p:sp>
        <p:nvSpPr>
          <p:cNvPr id="23" name="Rectangle 22"/>
          <p:cNvSpPr/>
          <p:nvPr/>
        </p:nvSpPr>
        <p:spPr>
          <a:xfrm>
            <a:off x="4322978" y="1920240"/>
            <a:ext cx="3545738" cy="2743200"/>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22978" y="1920240"/>
            <a:ext cx="3545738" cy="3175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32706" y="2057400"/>
            <a:ext cx="3326282" cy="731520"/>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7570" y="2112264"/>
            <a:ext cx="3216554" cy="219456"/>
          </a:xfrm>
          <a:prstGeom prst="rect">
            <a:avLst/>
          </a:prstGeom>
          <a:noFill/>
        </p:spPr>
        <p:txBody>
          <a:bodyPr wrap="square">
            <a:spAutoFit/>
          </a:bodyPr>
          <a:lstStyle/>
          <a:p>
            <a:pPr algn="l"/>
            <a:r>
              <a:rPr sz="850" b="1" i="0">
                <a:solidFill>
                  <a:srgbClr val="FFFFFF"/>
                </a:solidFill>
                <a:latin typeface="Arial"/>
              </a:rPr>
              <a:t>📊 End-of-Shift Reconciliation Dashboard</a:t>
            </a:r>
          </a:p>
        </p:txBody>
      </p:sp>
      <p:sp>
        <p:nvSpPr>
          <p:cNvPr id="27" name="TextBox 26"/>
          <p:cNvSpPr txBox="1"/>
          <p:nvPr/>
        </p:nvSpPr>
        <p:spPr>
          <a:xfrm>
            <a:off x="4487570" y="2313432"/>
            <a:ext cx="3216554" cy="438912"/>
          </a:xfrm>
          <a:prstGeom prst="rect">
            <a:avLst/>
          </a:prstGeom>
          <a:noFill/>
        </p:spPr>
        <p:txBody>
          <a:bodyPr wrap="square">
            <a:spAutoFit/>
          </a:bodyPr>
          <a:lstStyle/>
          <a:p>
            <a:pPr algn="l"/>
            <a:r>
              <a:rPr sz="750" b="0" i="0">
                <a:solidFill>
                  <a:srgbClr val="9E9EB0"/>
                </a:solidFill>
                <a:latin typeface="Arial"/>
              </a:rPr>
              <a:t>Comprehensive collection metrics, route performance analytics, and automated discrepancy reconciliation.</a:t>
            </a:r>
          </a:p>
        </p:txBody>
      </p:sp>
      <p:sp>
        <p:nvSpPr>
          <p:cNvPr id="28" name="Rectangle 27"/>
          <p:cNvSpPr/>
          <p:nvPr/>
        </p:nvSpPr>
        <p:spPr>
          <a:xfrm>
            <a:off x="4432706" y="2862072"/>
            <a:ext cx="3326282" cy="731520"/>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87570" y="2916936"/>
            <a:ext cx="3216554" cy="219456"/>
          </a:xfrm>
          <a:prstGeom prst="rect">
            <a:avLst/>
          </a:prstGeom>
          <a:noFill/>
        </p:spPr>
        <p:txBody>
          <a:bodyPr wrap="square">
            <a:spAutoFit/>
          </a:bodyPr>
          <a:lstStyle/>
          <a:p>
            <a:pPr algn="l"/>
            <a:r>
              <a:rPr sz="850" b="1" i="0">
                <a:solidFill>
                  <a:srgbClr val="FFFFFF"/>
                </a:solidFill>
                <a:latin typeface="Arial"/>
              </a:rPr>
              <a:t>🔗 Live BMTC Backend API Integration</a:t>
            </a:r>
          </a:p>
        </p:txBody>
      </p:sp>
      <p:sp>
        <p:nvSpPr>
          <p:cNvPr id="30" name="TextBox 29"/>
          <p:cNvSpPr txBox="1"/>
          <p:nvPr/>
        </p:nvSpPr>
        <p:spPr>
          <a:xfrm>
            <a:off x="4487570" y="3118104"/>
            <a:ext cx="3216554" cy="438912"/>
          </a:xfrm>
          <a:prstGeom prst="rect">
            <a:avLst/>
          </a:prstGeom>
          <a:noFill/>
        </p:spPr>
        <p:txBody>
          <a:bodyPr wrap="square">
            <a:spAutoFit/>
          </a:bodyPr>
          <a:lstStyle/>
          <a:p>
            <a:pPr algn="l"/>
            <a:r>
              <a:rPr sz="750" b="0" i="0">
                <a:solidFill>
                  <a:srgbClr val="9E9EB0"/>
                </a:solidFill>
                <a:latin typeface="Arial"/>
              </a:rPr>
              <a:t>Replace mock data tables with live transit authority APIs for dynamic schedules and route geometry.</a:t>
            </a:r>
          </a:p>
        </p:txBody>
      </p:sp>
      <p:sp>
        <p:nvSpPr>
          <p:cNvPr id="31" name="Rectangle 30"/>
          <p:cNvSpPr/>
          <p:nvPr/>
        </p:nvSpPr>
        <p:spPr>
          <a:xfrm>
            <a:off x="4432706" y="3666744"/>
            <a:ext cx="3326282" cy="731520"/>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87570" y="3721608"/>
            <a:ext cx="3216554" cy="219456"/>
          </a:xfrm>
          <a:prstGeom prst="rect">
            <a:avLst/>
          </a:prstGeom>
          <a:noFill/>
        </p:spPr>
        <p:txBody>
          <a:bodyPr wrap="square">
            <a:spAutoFit/>
          </a:bodyPr>
          <a:lstStyle/>
          <a:p>
            <a:pPr algn="l"/>
            <a:r>
              <a:rPr sz="850" b="1" i="0">
                <a:solidFill>
                  <a:srgbClr val="FFFFFF"/>
                </a:solidFill>
                <a:latin typeface="Arial"/>
              </a:rPr>
              <a:t>🗣️ In-Field Testing with 5 Real Conductors</a:t>
            </a:r>
          </a:p>
        </p:txBody>
      </p:sp>
      <p:sp>
        <p:nvSpPr>
          <p:cNvPr id="33" name="TextBox 32"/>
          <p:cNvSpPr txBox="1"/>
          <p:nvPr/>
        </p:nvSpPr>
        <p:spPr>
          <a:xfrm>
            <a:off x="4487570" y="3922776"/>
            <a:ext cx="3216554" cy="438912"/>
          </a:xfrm>
          <a:prstGeom prst="rect">
            <a:avLst/>
          </a:prstGeom>
          <a:noFill/>
        </p:spPr>
        <p:txBody>
          <a:bodyPr wrap="square">
            <a:spAutoFit/>
          </a:bodyPr>
          <a:lstStyle/>
          <a:p>
            <a:pPr algn="l"/>
            <a:r>
              <a:rPr sz="750" b="0" i="0">
                <a:solidFill>
                  <a:srgbClr val="9E9EB0"/>
                </a:solidFill>
                <a:latin typeface="Arial"/>
              </a:rPr>
              <a:t>Full shift observation and think-aloud testing on operational Bangalore routes — observe, don't guess.</a:t>
            </a:r>
          </a:p>
        </p:txBody>
      </p:sp>
      <p:sp>
        <p:nvSpPr>
          <p:cNvPr id="34" name="Rectangle 33"/>
          <p:cNvSpPr/>
          <p:nvPr/>
        </p:nvSpPr>
        <p:spPr>
          <a:xfrm>
            <a:off x="9687305" y="1536192"/>
            <a:ext cx="274320" cy="27432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1596" y="1051560"/>
            <a:ext cx="3545738" cy="438912"/>
          </a:xfrm>
          <a:prstGeom prst="rect">
            <a:avLst/>
          </a:prstGeom>
          <a:solidFill>
            <a:srgbClr val="181832"/>
          </a:solidFill>
          <a:ln w="9525">
            <a:solidFill>
              <a:srgbClr val="FFB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51596" y="1115568"/>
            <a:ext cx="3545738" cy="274320"/>
          </a:xfrm>
          <a:prstGeom prst="rect">
            <a:avLst/>
          </a:prstGeom>
          <a:noFill/>
        </p:spPr>
        <p:txBody>
          <a:bodyPr wrap="square">
            <a:spAutoFit/>
          </a:bodyPr>
          <a:lstStyle/>
          <a:p>
            <a:pPr algn="ctr"/>
            <a:r>
              <a:rPr sz="950" b="1" i="0">
                <a:solidFill>
                  <a:srgbClr val="FFB300"/>
                </a:solidFill>
                <a:latin typeface="Arial"/>
              </a:rPr>
              <a:t>LONG TERM (v3+ Intelligence)</a:t>
            </a:r>
          </a:p>
        </p:txBody>
      </p:sp>
      <p:sp>
        <p:nvSpPr>
          <p:cNvPr id="37" name="Rectangle 36"/>
          <p:cNvSpPr/>
          <p:nvPr/>
        </p:nvSpPr>
        <p:spPr>
          <a:xfrm>
            <a:off x="8051596" y="1920240"/>
            <a:ext cx="3545738" cy="2743200"/>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51596" y="1920240"/>
            <a:ext cx="3545738" cy="3175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161324" y="2057400"/>
            <a:ext cx="3326282" cy="731520"/>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16188" y="2112264"/>
            <a:ext cx="3216554" cy="219456"/>
          </a:xfrm>
          <a:prstGeom prst="rect">
            <a:avLst/>
          </a:prstGeom>
          <a:noFill/>
        </p:spPr>
        <p:txBody>
          <a:bodyPr wrap="square">
            <a:spAutoFit/>
          </a:bodyPr>
          <a:lstStyle/>
          <a:p>
            <a:pPr algn="l"/>
            <a:r>
              <a:rPr sz="850" b="1" i="0">
                <a:solidFill>
                  <a:srgbClr val="FFFFFF"/>
                </a:solidFill>
                <a:latin typeface="Arial"/>
              </a:rPr>
              <a:t>🤖 Machine Learning Frequency Sorting</a:t>
            </a:r>
          </a:p>
        </p:txBody>
      </p:sp>
      <p:sp>
        <p:nvSpPr>
          <p:cNvPr id="41" name="TextBox 40"/>
          <p:cNvSpPr txBox="1"/>
          <p:nvPr/>
        </p:nvSpPr>
        <p:spPr>
          <a:xfrm>
            <a:off x="8216188" y="2313432"/>
            <a:ext cx="3216554" cy="438912"/>
          </a:xfrm>
          <a:prstGeom prst="rect">
            <a:avLst/>
          </a:prstGeom>
          <a:noFill/>
        </p:spPr>
        <p:txBody>
          <a:bodyPr wrap="square">
            <a:spAutoFit/>
          </a:bodyPr>
          <a:lstStyle/>
          <a:p>
            <a:pPr algn="l"/>
            <a:r>
              <a:rPr sz="750" b="0" i="0">
                <a:solidFill>
                  <a:srgbClr val="9E9EB0"/>
                </a:solidFill>
                <a:latin typeface="Arial"/>
              </a:rPr>
              <a:t>Algorithms dynamically re-order the Pareto Grid to reflect the specific conductor's personal route habits.</a:t>
            </a:r>
          </a:p>
        </p:txBody>
      </p:sp>
      <p:sp>
        <p:nvSpPr>
          <p:cNvPr id="42" name="Rectangle 41"/>
          <p:cNvSpPr/>
          <p:nvPr/>
        </p:nvSpPr>
        <p:spPr>
          <a:xfrm>
            <a:off x="8161324" y="2862072"/>
            <a:ext cx="3326282" cy="731520"/>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16188" y="2916936"/>
            <a:ext cx="3216554" cy="219456"/>
          </a:xfrm>
          <a:prstGeom prst="rect">
            <a:avLst/>
          </a:prstGeom>
          <a:noFill/>
        </p:spPr>
        <p:txBody>
          <a:bodyPr wrap="square">
            <a:spAutoFit/>
          </a:bodyPr>
          <a:lstStyle/>
          <a:p>
            <a:pPr algn="l"/>
            <a:r>
              <a:rPr sz="850" b="1" i="0">
                <a:solidFill>
                  <a:srgbClr val="FFFFFF"/>
                </a:solidFill>
                <a:latin typeface="Arial"/>
              </a:rPr>
              <a:t>📍 GPS-Aware Automatic Stop Advancement</a:t>
            </a:r>
          </a:p>
        </p:txBody>
      </p:sp>
      <p:sp>
        <p:nvSpPr>
          <p:cNvPr id="44" name="TextBox 43"/>
          <p:cNvSpPr txBox="1"/>
          <p:nvPr/>
        </p:nvSpPr>
        <p:spPr>
          <a:xfrm>
            <a:off x="8216188" y="3118104"/>
            <a:ext cx="3216554" cy="438912"/>
          </a:xfrm>
          <a:prstGeom prst="rect">
            <a:avLst/>
          </a:prstGeom>
          <a:noFill/>
        </p:spPr>
        <p:txBody>
          <a:bodyPr wrap="square">
            <a:spAutoFit/>
          </a:bodyPr>
          <a:lstStyle/>
          <a:p>
            <a:pPr algn="l"/>
            <a:r>
              <a:rPr sz="750" b="0" i="0">
                <a:solidFill>
                  <a:srgbClr val="9E9EB0"/>
                </a:solidFill>
                <a:latin typeface="Arial"/>
              </a:rPr>
              <a:t>Device GPS automatically advances the current stop as the bus moves, guaranteeing accurate fare stage origin.</a:t>
            </a:r>
          </a:p>
        </p:txBody>
      </p:sp>
      <p:sp>
        <p:nvSpPr>
          <p:cNvPr id="45" name="Rectangle 44"/>
          <p:cNvSpPr/>
          <p:nvPr/>
        </p:nvSpPr>
        <p:spPr>
          <a:xfrm>
            <a:off x="594360" y="4892040"/>
            <a:ext cx="11002975" cy="1325880"/>
          </a:xfrm>
          <a:prstGeom prst="rect">
            <a:avLst/>
          </a:prstGeom>
          <a:solidFill>
            <a:srgbClr val="061422"/>
          </a:solidFill>
          <a:ln w="9525">
            <a:solidFill>
              <a:srgbClr val="448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94360" y="4892040"/>
            <a:ext cx="11002975" cy="31750"/>
          </a:xfrm>
          <a:prstGeom prst="rect">
            <a:avLst/>
          </a:prstGeom>
          <a:solidFill>
            <a:srgbClr val="448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77240" y="4983480"/>
            <a:ext cx="10637215" cy="228600"/>
          </a:xfrm>
          <a:prstGeom prst="rect">
            <a:avLst/>
          </a:prstGeom>
          <a:noFill/>
        </p:spPr>
        <p:txBody>
          <a:bodyPr wrap="square">
            <a:spAutoFit/>
          </a:bodyPr>
          <a:lstStyle/>
          <a:p>
            <a:pPr algn="l"/>
            <a:r>
              <a:rPr sz="1000" b="1" i="0">
                <a:solidFill>
                  <a:srgbClr val="448AFF"/>
                </a:solidFill>
                <a:latin typeface="Arial"/>
              </a:rPr>
              <a:t>🔍 CANDIDATE DESIGN REFLECTION: GROUNDING DESIGN IN FIELD REALITY</a:t>
            </a:r>
          </a:p>
        </p:txBody>
      </p:sp>
      <p:sp>
        <p:nvSpPr>
          <p:cNvPr id="48" name="TextBox 47"/>
          <p:cNvSpPr txBox="1"/>
          <p:nvPr/>
        </p:nvSpPr>
        <p:spPr>
          <a:xfrm>
            <a:off x="777240" y="5230368"/>
            <a:ext cx="10637215" cy="868680"/>
          </a:xfrm>
          <a:prstGeom prst="rect">
            <a:avLst/>
          </a:prstGeom>
          <a:noFill/>
        </p:spPr>
        <p:txBody>
          <a:bodyPr wrap="square">
            <a:spAutoFit/>
          </a:bodyPr>
          <a:lstStyle/>
          <a:p>
            <a:pPr algn="l"/>
            <a:r>
              <a:rPr sz="850" b="0" i="1">
                <a:solidFill>
                  <a:srgbClr val="F0F0F5"/>
                </a:solidFill>
                <a:latin typeface="Arial"/>
              </a:rPr>
              <a:t>This prototype represents a high-fidelity v2 built on desk research, ergonomic principles, and simulated workflow testing. However, the most critical lesson in product design is that no interface survives contact with reality without user observation. The single most impactful next step is not writing more code, but spending an 8-hour shift riding alongside a BMTC conductor on Route 335E — silently observing where their thumb hesitates, how glare strikes the screen, and where muscle memory stumbles. That field observation will guide v3.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1A"/>
        </a:solidFill>
        <a:effectLst/>
      </p:bgPr>
    </p:bg>
    <p:spTree>
      <p:nvGrpSpPr>
        <p:cNvPr id="1" name=""/>
        <p:cNvGrpSpPr/>
        <p:nvPr/>
      </p:nvGrpSpPr>
      <p:grpSpPr/>
      <p:sp>
        <p:nvSpPr>
          <p:cNvPr id="2" name="TextBox 1"/>
          <p:cNvSpPr txBox="1"/>
          <p:nvPr/>
        </p:nvSpPr>
        <p:spPr>
          <a:xfrm>
            <a:off x="10865815" y="6473952"/>
            <a:ext cx="731520" cy="274320"/>
          </a:xfrm>
          <a:prstGeom prst="rect">
            <a:avLst/>
          </a:prstGeom>
          <a:noFill/>
        </p:spPr>
        <p:txBody>
          <a:bodyPr wrap="square">
            <a:spAutoFit/>
          </a:bodyPr>
          <a:lstStyle/>
          <a:p>
            <a:pPr algn="r"/>
            <a:r>
              <a:rPr sz="800" b="0" i="0">
                <a:solidFill>
                  <a:srgbClr val="9E9EB0"/>
                </a:solidFill>
                <a:latin typeface="Arial"/>
              </a:rPr>
              <a:t>10 / 10</a:t>
            </a:r>
          </a:p>
        </p:txBody>
      </p:sp>
      <p:sp>
        <p:nvSpPr>
          <p:cNvPr id="3" name="TextBox 2"/>
          <p:cNvSpPr txBox="1"/>
          <p:nvPr/>
        </p:nvSpPr>
        <p:spPr>
          <a:xfrm>
            <a:off x="594360" y="777240"/>
            <a:ext cx="7132320" cy="228600"/>
          </a:xfrm>
          <a:prstGeom prst="rect">
            <a:avLst/>
          </a:prstGeom>
          <a:noFill/>
        </p:spPr>
        <p:txBody>
          <a:bodyPr wrap="square">
            <a:spAutoFit/>
          </a:bodyPr>
          <a:lstStyle/>
          <a:p>
            <a:pPr algn="l"/>
            <a:r>
              <a:rPr sz="950" b="1" i="0">
                <a:solidFill>
                  <a:srgbClr val="448AFF"/>
                </a:solidFill>
                <a:latin typeface="Arial"/>
              </a:rPr>
              <a:t>NIELSEN PRODUCT DESIGN INTERNSHIP 2026</a:t>
            </a:r>
          </a:p>
        </p:txBody>
      </p:sp>
      <p:sp>
        <p:nvSpPr>
          <p:cNvPr id="4" name="TextBox 3"/>
          <p:cNvSpPr txBox="1"/>
          <p:nvPr/>
        </p:nvSpPr>
        <p:spPr>
          <a:xfrm>
            <a:off x="594360" y="1051560"/>
            <a:ext cx="7132320" cy="822960"/>
          </a:xfrm>
          <a:prstGeom prst="rect">
            <a:avLst/>
          </a:prstGeom>
          <a:noFill/>
        </p:spPr>
        <p:txBody>
          <a:bodyPr wrap="square">
            <a:spAutoFit/>
          </a:bodyPr>
          <a:lstStyle/>
          <a:p>
            <a:pPr algn="l"/>
            <a:r>
              <a:rPr sz="3000" b="1" i="0">
                <a:solidFill>
                  <a:srgbClr val="FFFFFF"/>
                </a:solidFill>
                <a:latin typeface="Arial"/>
              </a:rPr>
              <a:t>Every second saved is a station arrived on time.</a:t>
            </a:r>
          </a:p>
        </p:txBody>
      </p:sp>
      <p:sp>
        <p:nvSpPr>
          <p:cNvPr id="5" name="Rectangle 4"/>
          <p:cNvSpPr/>
          <p:nvPr/>
        </p:nvSpPr>
        <p:spPr>
          <a:xfrm>
            <a:off x="594360" y="1965960"/>
            <a:ext cx="3200400" cy="3810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2148840"/>
            <a:ext cx="7132320" cy="1097280"/>
          </a:xfrm>
          <a:prstGeom prst="rect">
            <a:avLst/>
          </a:prstGeom>
          <a:noFill/>
        </p:spPr>
        <p:txBody>
          <a:bodyPr wrap="square">
            <a:spAutoFit/>
          </a:bodyPr>
          <a:lstStyle/>
          <a:p>
            <a:pPr algn="l"/>
            <a:r>
              <a:rPr sz="1500" b="0" i="1">
                <a:solidFill>
                  <a:srgbClr val="9E9EB0"/>
                </a:solidFill>
                <a:latin typeface="Arial"/>
              </a:rPr>
              <a:t>Thank you — let's solve real problems together.</a:t>
            </a:r>
          </a:p>
          <a:p>
            <a:pPr algn="l"/>
            <a:r>
              <a:rPr sz="1600" b="1" i="0">
                <a:solidFill>
                  <a:srgbClr val="FFFFFF"/>
                </a:solidFill>
                <a:latin typeface="Arial"/>
              </a:rPr>
              <a:t>
Ujjal Sarkar</a:t>
            </a:r>
          </a:p>
          <a:p>
            <a:pPr algn="l">
              <a:spcBef>
                <a:spcPts val="200"/>
              </a:spcBef>
            </a:pPr>
            <a:r>
              <a:rPr sz="1100" b="0" i="0">
                <a:solidFill>
                  <a:srgbClr val="448AFF"/>
                </a:solidFill>
                <a:latin typeface="Arial"/>
              </a:rPr>
              <a:t>Product Designer &amp; UX Researcher</a:t>
            </a:r>
          </a:p>
        </p:txBody>
      </p:sp>
      <p:sp>
        <p:nvSpPr>
          <p:cNvPr id="7" name="Rectangle 6"/>
          <p:cNvSpPr/>
          <p:nvPr/>
        </p:nvSpPr>
        <p:spPr>
          <a:xfrm>
            <a:off x="594360" y="3429000"/>
            <a:ext cx="7132320" cy="2240280"/>
          </a:xfrm>
          <a:prstGeom prst="rect">
            <a:avLst/>
          </a:prstGeom>
          <a:solidFill>
            <a:srgbClr val="12122A"/>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3429000"/>
            <a:ext cx="7132320" cy="3175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547872"/>
            <a:ext cx="6766560" cy="228600"/>
          </a:xfrm>
          <a:prstGeom prst="rect">
            <a:avLst/>
          </a:prstGeom>
          <a:noFill/>
        </p:spPr>
        <p:txBody>
          <a:bodyPr wrap="square">
            <a:spAutoFit/>
          </a:bodyPr>
          <a:lstStyle/>
          <a:p>
            <a:pPr algn="l"/>
            <a:r>
              <a:rPr sz="950" b="1" i="0">
                <a:solidFill>
                  <a:srgbClr val="00E676"/>
                </a:solidFill>
                <a:latin typeface="Arial"/>
              </a:rPr>
              <a:t>PROJECT LINKS &amp; REPOSITORY ASSETS (CLICKABLE)</a:t>
            </a:r>
          </a:p>
        </p:txBody>
      </p:sp>
      <p:sp>
        <p:nvSpPr>
          <p:cNvPr id="10" name="Rectangle 9"/>
          <p:cNvSpPr/>
          <p:nvPr/>
        </p:nvSpPr>
        <p:spPr>
          <a:xfrm>
            <a:off x="777240" y="3886200"/>
            <a:ext cx="6766560" cy="502920"/>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959352"/>
            <a:ext cx="1828800" cy="228600"/>
          </a:xfrm>
          <a:prstGeom prst="rect">
            <a:avLst/>
          </a:prstGeom>
          <a:noFill/>
        </p:spPr>
        <p:txBody>
          <a:bodyPr wrap="square">
            <a:spAutoFit/>
          </a:bodyPr>
          <a:lstStyle/>
          <a:p>
            <a:pPr algn="l"/>
            <a:r>
              <a:rPr sz="900" b="1" i="0">
                <a:solidFill>
                  <a:srgbClr val="00E676"/>
                </a:solidFill>
                <a:latin typeface="Arial"/>
              </a:rPr>
              <a:t>🔗  Live Prototype : </a:t>
            </a:r>
          </a:p>
        </p:txBody>
      </p:sp>
      <p:sp>
        <p:nvSpPr>
          <p:cNvPr id="12" name="TextBox 11"/>
          <p:cNvSpPr txBox="1"/>
          <p:nvPr/>
        </p:nvSpPr>
        <p:spPr>
          <a:xfrm>
            <a:off x="2697480" y="3959352"/>
            <a:ext cx="4754880" cy="228600"/>
          </a:xfrm>
          <a:prstGeom prst="rect">
            <a:avLst/>
          </a:prstGeom>
          <a:noFill/>
        </p:spPr>
        <p:txBody>
          <a:bodyPr wrap="none">
            <a:spAutoFit/>
          </a:bodyPr>
          <a:lstStyle/>
          <a:p>
            <a:r>
              <a:rPr sz="850" b="1" u="sng">
                <a:solidFill>
                  <a:srgbClr val="00E676"/>
                </a:solidFill>
                <a:latin typeface="Arial"/>
                <a:hlinkClick r:id="rId2"/>
              </a:rPr>
              <a:t>https://ujjalsarkar7674-hub.github.io/nielsen-conductoros/prototype/</a:t>
            </a:r>
          </a:p>
        </p:txBody>
      </p:sp>
      <p:sp>
        <p:nvSpPr>
          <p:cNvPr id="13" name="TextBox 12"/>
          <p:cNvSpPr txBox="1"/>
          <p:nvPr/>
        </p:nvSpPr>
        <p:spPr>
          <a:xfrm>
            <a:off x="868680" y="4178808"/>
            <a:ext cx="6583680" cy="182880"/>
          </a:xfrm>
          <a:prstGeom prst="rect">
            <a:avLst/>
          </a:prstGeom>
          <a:noFill/>
        </p:spPr>
        <p:txBody>
          <a:bodyPr wrap="square">
            <a:spAutoFit/>
          </a:bodyPr>
          <a:lstStyle/>
          <a:p>
            <a:pPr algn="l"/>
            <a:r>
              <a:rPr sz="750" b="0" i="0">
                <a:solidFill>
                  <a:srgbClr val="9E9EB0"/>
                </a:solidFill>
                <a:latin typeface="Arial"/>
              </a:rPr>
              <a:t>Deployable HTML5/JS web prototype — open directly on desktop or mobile.</a:t>
            </a:r>
          </a:p>
        </p:txBody>
      </p:sp>
      <p:sp>
        <p:nvSpPr>
          <p:cNvPr id="14" name="Rectangle 13"/>
          <p:cNvSpPr/>
          <p:nvPr/>
        </p:nvSpPr>
        <p:spPr>
          <a:xfrm>
            <a:off x="777240" y="4453128"/>
            <a:ext cx="6766560" cy="502920"/>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526280"/>
            <a:ext cx="1828800" cy="228600"/>
          </a:xfrm>
          <a:prstGeom prst="rect">
            <a:avLst/>
          </a:prstGeom>
          <a:noFill/>
        </p:spPr>
        <p:txBody>
          <a:bodyPr wrap="square">
            <a:spAutoFit/>
          </a:bodyPr>
          <a:lstStyle/>
          <a:p>
            <a:pPr algn="l"/>
            <a:r>
              <a:rPr sz="900" b="1" i="0">
                <a:solidFill>
                  <a:srgbClr val="448AFF"/>
                </a:solidFill>
                <a:latin typeface="Arial"/>
              </a:rPr>
              <a:t>📁  GitHub Repository : </a:t>
            </a:r>
          </a:p>
        </p:txBody>
      </p:sp>
      <p:sp>
        <p:nvSpPr>
          <p:cNvPr id="16" name="TextBox 15"/>
          <p:cNvSpPr txBox="1"/>
          <p:nvPr/>
        </p:nvSpPr>
        <p:spPr>
          <a:xfrm>
            <a:off x="2697480" y="4526280"/>
            <a:ext cx="4754880" cy="228600"/>
          </a:xfrm>
          <a:prstGeom prst="rect">
            <a:avLst/>
          </a:prstGeom>
          <a:noFill/>
        </p:spPr>
        <p:txBody>
          <a:bodyPr wrap="none">
            <a:spAutoFit/>
          </a:bodyPr>
          <a:lstStyle/>
          <a:p>
            <a:r>
              <a:rPr sz="850" b="1" u="sng">
                <a:solidFill>
                  <a:srgbClr val="448AFF"/>
                </a:solidFill>
                <a:latin typeface="Arial"/>
                <a:hlinkClick r:id="rId3"/>
              </a:rPr>
              <a:t>https://github.com/ujjalsarkar7674-hub/nielsen-conductoros</a:t>
            </a:r>
          </a:p>
        </p:txBody>
      </p:sp>
      <p:sp>
        <p:nvSpPr>
          <p:cNvPr id="17" name="TextBox 16"/>
          <p:cNvSpPr txBox="1"/>
          <p:nvPr/>
        </p:nvSpPr>
        <p:spPr>
          <a:xfrm>
            <a:off x="868680" y="4745736"/>
            <a:ext cx="6583680" cy="182880"/>
          </a:xfrm>
          <a:prstGeom prst="rect">
            <a:avLst/>
          </a:prstGeom>
          <a:noFill/>
        </p:spPr>
        <p:txBody>
          <a:bodyPr wrap="square">
            <a:spAutoFit/>
          </a:bodyPr>
          <a:lstStyle/>
          <a:p>
            <a:pPr algn="l"/>
            <a:r>
              <a:rPr sz="750" b="0" i="0">
                <a:solidFill>
                  <a:srgbClr val="9E9EB0"/>
                </a:solidFill>
                <a:latin typeface="Arial"/>
              </a:rPr>
              <a:t>Complete open-source codebase, architecture documentation, and assets.</a:t>
            </a:r>
          </a:p>
        </p:txBody>
      </p:sp>
      <p:sp>
        <p:nvSpPr>
          <p:cNvPr id="18" name="Rectangle 17"/>
          <p:cNvSpPr/>
          <p:nvPr/>
        </p:nvSpPr>
        <p:spPr>
          <a:xfrm>
            <a:off x="777240" y="5020056"/>
            <a:ext cx="6766560" cy="502920"/>
          </a:xfrm>
          <a:prstGeom prst="rect">
            <a:avLst/>
          </a:prstGeom>
          <a:solidFill>
            <a:srgbClr val="1818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5093208"/>
            <a:ext cx="1828800" cy="228600"/>
          </a:xfrm>
          <a:prstGeom prst="rect">
            <a:avLst/>
          </a:prstGeom>
          <a:noFill/>
        </p:spPr>
        <p:txBody>
          <a:bodyPr wrap="square">
            <a:spAutoFit/>
          </a:bodyPr>
          <a:lstStyle/>
          <a:p>
            <a:pPr algn="l"/>
            <a:r>
              <a:rPr sz="900" b="1" i="0">
                <a:solidFill>
                  <a:srgbClr val="9E9EB0"/>
                </a:solidFill>
                <a:latin typeface="Arial"/>
              </a:rPr>
              <a:t>👤  GitHub Profile : </a:t>
            </a:r>
          </a:p>
        </p:txBody>
      </p:sp>
      <p:sp>
        <p:nvSpPr>
          <p:cNvPr id="20" name="TextBox 19"/>
          <p:cNvSpPr txBox="1"/>
          <p:nvPr/>
        </p:nvSpPr>
        <p:spPr>
          <a:xfrm>
            <a:off x="2697480" y="5093208"/>
            <a:ext cx="4754880" cy="228600"/>
          </a:xfrm>
          <a:prstGeom prst="rect">
            <a:avLst/>
          </a:prstGeom>
          <a:noFill/>
        </p:spPr>
        <p:txBody>
          <a:bodyPr wrap="none">
            <a:spAutoFit/>
          </a:bodyPr>
          <a:lstStyle/>
          <a:p>
            <a:r>
              <a:rPr sz="850" b="1" u="sng">
                <a:solidFill>
                  <a:srgbClr val="9E9EB0"/>
                </a:solidFill>
                <a:latin typeface="Arial"/>
                <a:hlinkClick r:id="rId4"/>
              </a:rPr>
              <a:t>https://github.com/ujjalsarkar7674-hub</a:t>
            </a:r>
          </a:p>
        </p:txBody>
      </p:sp>
      <p:sp>
        <p:nvSpPr>
          <p:cNvPr id="21" name="TextBox 20"/>
          <p:cNvSpPr txBox="1"/>
          <p:nvPr/>
        </p:nvSpPr>
        <p:spPr>
          <a:xfrm>
            <a:off x="868680" y="5312664"/>
            <a:ext cx="6583680" cy="182880"/>
          </a:xfrm>
          <a:prstGeom prst="rect">
            <a:avLst/>
          </a:prstGeom>
          <a:noFill/>
        </p:spPr>
        <p:txBody>
          <a:bodyPr wrap="square">
            <a:spAutoFit/>
          </a:bodyPr>
          <a:lstStyle/>
          <a:p>
            <a:pPr algn="l"/>
            <a:r>
              <a:rPr sz="750" b="0" i="0">
                <a:solidFill>
                  <a:srgbClr val="9E9EB0"/>
                </a:solidFill>
                <a:latin typeface="Arial"/>
              </a:rPr>
              <a:t>Portfolio and design engineering repositories.</a:t>
            </a:r>
          </a:p>
        </p:txBody>
      </p:sp>
      <p:sp>
        <p:nvSpPr>
          <p:cNvPr id="22" name="TextBox 21"/>
          <p:cNvSpPr txBox="1"/>
          <p:nvPr/>
        </p:nvSpPr>
        <p:spPr>
          <a:xfrm>
            <a:off x="594360" y="5897880"/>
            <a:ext cx="7132320" cy="274320"/>
          </a:xfrm>
          <a:prstGeom prst="rect">
            <a:avLst/>
          </a:prstGeom>
          <a:noFill/>
        </p:spPr>
        <p:txBody>
          <a:bodyPr wrap="square">
            <a:spAutoFit/>
          </a:bodyPr>
          <a:lstStyle/>
          <a:p>
            <a:pPr algn="l"/>
            <a:r>
              <a:rPr sz="850" b="0" i="0">
                <a:solidFill>
                  <a:srgbClr val="9E9EB0"/>
                </a:solidFill>
                <a:latin typeface="Arial"/>
              </a:rPr>
              <a:t>ConductorOS • Reimagining Bus Ticketing for India • Brief 1</a:t>
            </a:r>
          </a:p>
        </p:txBody>
      </p:sp>
      <p:sp>
        <p:nvSpPr>
          <p:cNvPr id="23" name="Rectangle 22"/>
          <p:cNvSpPr/>
          <p:nvPr/>
        </p:nvSpPr>
        <p:spPr>
          <a:xfrm>
            <a:off x="8339328" y="704088"/>
            <a:ext cx="2596896" cy="5449824"/>
          </a:xfrm>
          <a:prstGeom prst="rect">
            <a:avLst/>
          </a:prstGeom>
          <a:solidFill>
            <a:srgbClr val="181832"/>
          </a:solidFill>
          <a:ln w="9525">
            <a:solidFill>
              <a:srgbClr val="2424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01_main_grid.png"/>
          <p:cNvPicPr>
            <a:picLocks noChangeAspect="1"/>
          </p:cNvPicPr>
          <p:nvPr/>
        </p:nvPicPr>
        <p:blipFill>
          <a:blip r:embed="rId5"/>
          <a:stretch>
            <a:fillRect/>
          </a:stretch>
        </p:blipFill>
        <p:spPr>
          <a:xfrm>
            <a:off x="8412480" y="777240"/>
            <a:ext cx="2450592" cy="5303520"/>
          </a:xfrm>
          <a:prstGeom prst="rect">
            <a:avLst/>
          </a:prstGeom>
        </p:spPr>
      </p:pic>
      <p:sp>
        <p:nvSpPr>
          <p:cNvPr id="25" name="TextBox 24"/>
          <p:cNvSpPr txBox="1"/>
          <p:nvPr/>
        </p:nvSpPr>
        <p:spPr>
          <a:xfrm>
            <a:off x="7955280" y="6217920"/>
            <a:ext cx="3364992" cy="274320"/>
          </a:xfrm>
          <a:prstGeom prst="rect">
            <a:avLst/>
          </a:prstGeom>
          <a:noFill/>
        </p:spPr>
        <p:txBody>
          <a:bodyPr wrap="square">
            <a:spAutoFit/>
          </a:bodyPr>
          <a:lstStyle/>
          <a:p>
            <a:pPr algn="ctr"/>
            <a:r>
              <a:rPr sz="800" b="0" i="1">
                <a:solidFill>
                  <a:srgbClr val="9E9EB0"/>
                </a:solidFill>
                <a:latin typeface="Arial"/>
              </a:rPr>
              <a:t>ConductorOS — Ready for Evaluation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